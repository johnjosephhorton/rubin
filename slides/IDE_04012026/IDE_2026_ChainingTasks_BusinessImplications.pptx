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0" r:id="rId3"/>
    <p:sldId id="300" r:id="rId4"/>
    <p:sldId id="312" r:id="rId5"/>
    <p:sldId id="315" r:id="rId6"/>
    <p:sldId id="316" r:id="rId7"/>
    <p:sldId id="317" r:id="rId8"/>
    <p:sldId id="318" r:id="rId9"/>
    <p:sldId id="319" r:id="rId10"/>
    <p:sldId id="320" r:id="rId11"/>
    <p:sldId id="313" r:id="rId12"/>
    <p:sldId id="321" r:id="rId13"/>
    <p:sldId id="314" r:id="rId14"/>
    <p:sldId id="264" r:id="rId15"/>
    <p:sldId id="291" r:id="rId16"/>
    <p:sldId id="292" r:id="rId17"/>
    <p:sldId id="293" r:id="rId18"/>
    <p:sldId id="270" r:id="rId19"/>
    <p:sldId id="305" r:id="rId20"/>
    <p:sldId id="306" r:id="rId21"/>
    <p:sldId id="268" r:id="rId22"/>
    <p:sldId id="295" r:id="rId23"/>
    <p:sldId id="296" r:id="rId24"/>
    <p:sldId id="297" r:id="rId25"/>
    <p:sldId id="298" r:id="rId26"/>
    <p:sldId id="299" r:id="rId27"/>
    <p:sldId id="276" r:id="rId28"/>
    <p:sldId id="277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/>
    <p:restoredTop sz="94653"/>
  </p:normalViewPr>
  <p:slideViewPr>
    <p:cSldViewPr snapToGrid="0" snapToObjects="1">
      <p:cViewPr varScale="1">
        <p:scale>
          <a:sx n="118" d="100"/>
          <a:sy n="118" d="100"/>
        </p:scale>
        <p:origin x="76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399" y="1463040"/>
            <a:ext cx="10990217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Task Model of Workflows and Generative AI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399" y="46634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E9E9E"/>
                </a:solidFill>
                <a:latin typeface="Calibri"/>
              </a:defRPr>
            </a:pPr>
            <a:r>
              <a:rPr dirty="0"/>
              <a:t>IDE 2026 Annual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E9E9E"/>
                </a:solidFill>
                <a:latin typeface="Calibri"/>
              </a:defRPr>
            </a:pPr>
            <a:r>
              <a:t>April 1,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260D0-16BC-9D55-533F-FFF978E25DC9}"/>
              </a:ext>
            </a:extLst>
          </p:cNvPr>
          <p:cNvSpPr txBox="1"/>
          <p:nvPr/>
        </p:nvSpPr>
        <p:spPr>
          <a:xfrm>
            <a:off x="914399" y="3548985"/>
            <a:ext cx="10332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Mert Demirer, John Horton, Nicole </a:t>
            </a:r>
            <a:r>
              <a:rPr lang="en-US" sz="2000" b="1" i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Immorlica</a:t>
            </a:r>
            <a:r>
              <a:rPr lang="en-US" sz="2000" b="1" i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</a:rPr>
              <a:t>, Brendan Lucier,</a:t>
            </a:r>
            <a:r>
              <a:rPr lang="en-US" sz="2000" b="1" i="0" dirty="0">
                <a:solidFill>
                  <a:schemeClr val="bg1">
                    <a:lumMod val="75000"/>
                  </a:schemeClr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Peyman Shahidi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8D5B-F38B-1589-D5E7-22678C15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7AA80-8F5A-39C5-FA8E-E7EB1BEC77BF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Classic View of Production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996FE04-1C30-0083-8209-ED4697BE8F93}"/>
              </a:ext>
            </a:extLst>
          </p:cNvPr>
          <p:cNvSpPr/>
          <p:nvPr/>
        </p:nvSpPr>
        <p:spPr>
          <a:xfrm>
            <a:off x="1203960" y="2377448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7DF84-DD68-0BC5-7483-E348198461AE}"/>
              </a:ext>
            </a:extLst>
          </p:cNvPr>
          <p:cNvSpPr txBox="1"/>
          <p:nvPr/>
        </p:nvSpPr>
        <p:spPr>
          <a:xfrm>
            <a:off x="1203960" y="237744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2EC9B4B-4127-1AF9-83AB-95F5C3CDFEDF}"/>
              </a:ext>
            </a:extLst>
          </p:cNvPr>
          <p:cNvSpPr/>
          <p:nvPr/>
        </p:nvSpPr>
        <p:spPr>
          <a:xfrm>
            <a:off x="3261360" y="2377448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157D1-8302-CD6F-EE80-75FCAD1BD35C}"/>
              </a:ext>
            </a:extLst>
          </p:cNvPr>
          <p:cNvSpPr txBox="1"/>
          <p:nvPr/>
        </p:nvSpPr>
        <p:spPr>
          <a:xfrm>
            <a:off x="3261360" y="237744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D29332D-CE0B-1E98-F669-5DB97CFFD3A2}"/>
              </a:ext>
            </a:extLst>
          </p:cNvPr>
          <p:cNvSpPr/>
          <p:nvPr/>
        </p:nvSpPr>
        <p:spPr>
          <a:xfrm>
            <a:off x="5318760" y="2377448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EF5E63-04BA-B559-409B-36FFF34841C9}"/>
              </a:ext>
            </a:extLst>
          </p:cNvPr>
          <p:cNvSpPr txBox="1"/>
          <p:nvPr/>
        </p:nvSpPr>
        <p:spPr>
          <a:xfrm>
            <a:off x="5318760" y="237744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78F76AC-45E8-3308-3251-2E5545871ACD}"/>
              </a:ext>
            </a:extLst>
          </p:cNvPr>
          <p:cNvSpPr/>
          <p:nvPr/>
        </p:nvSpPr>
        <p:spPr>
          <a:xfrm>
            <a:off x="7376160" y="2377448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4FBF3B-9549-BD1A-9259-8267E326FBE8}"/>
              </a:ext>
            </a:extLst>
          </p:cNvPr>
          <p:cNvSpPr txBox="1"/>
          <p:nvPr/>
        </p:nvSpPr>
        <p:spPr>
          <a:xfrm>
            <a:off x="7376160" y="237744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C2E356F-E871-7C49-B8BA-B12502EC9F39}"/>
              </a:ext>
            </a:extLst>
          </p:cNvPr>
          <p:cNvSpPr/>
          <p:nvPr/>
        </p:nvSpPr>
        <p:spPr>
          <a:xfrm>
            <a:off x="9433560" y="2377448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988253-AD00-FBB8-8C91-89FBC8DFD87D}"/>
              </a:ext>
            </a:extLst>
          </p:cNvPr>
          <p:cNvSpPr txBox="1"/>
          <p:nvPr/>
        </p:nvSpPr>
        <p:spPr>
          <a:xfrm>
            <a:off x="9433560" y="237744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02ED9-709F-E0D3-FBB6-F6C0802492F4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Task-based model views workers’ jobs as bag of </a:t>
            </a:r>
            <a:r>
              <a:rPr lang="en-US" sz="2800" b="1" dirty="0"/>
              <a:t>independent</a:t>
            </a:r>
            <a:r>
              <a:rPr lang="en-US" sz="2800" dirty="0"/>
              <a:t> tasks.</a:t>
            </a:r>
          </a:p>
        </p:txBody>
      </p:sp>
    </p:spTree>
    <p:extLst>
      <p:ext uri="{BB962C8B-B14F-4D97-AF65-F5344CB8AC3E}">
        <p14:creationId xmlns:p14="http://schemas.microsoft.com/office/powerpoint/2010/main" val="875953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7FDE2-2F29-E7EC-90CF-4E5BCA220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9CDFC6-469E-F090-7347-A5FF8E011554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Classic View of Production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AE86A-B182-FC9D-1531-8A6DD64146BA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Task-based model views workers’ jobs as bag of </a:t>
            </a:r>
            <a:r>
              <a:rPr lang="en-US" sz="2800" b="1" dirty="0"/>
              <a:t>independent</a:t>
            </a:r>
            <a:r>
              <a:rPr lang="en-US" sz="2800" dirty="0"/>
              <a:t> tasks.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90D01-0B5F-F7E2-D61E-08B42202AAB9}"/>
              </a:ext>
            </a:extLst>
          </p:cNvPr>
          <p:cNvSpPr txBox="1"/>
          <p:nvPr/>
        </p:nvSpPr>
        <p:spPr>
          <a:xfrm>
            <a:off x="731520" y="3997754"/>
            <a:ext cx="10698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Two implicit assumptions: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Technology has </a:t>
            </a:r>
            <a:r>
              <a:rPr lang="en-US" sz="2800" u="sng" dirty="0"/>
              <a:t>spotty gains</a:t>
            </a:r>
            <a:r>
              <a:rPr lang="en-US" sz="2800" dirty="0"/>
              <a:t> for tasks one at a time</a:t>
            </a:r>
            <a:endParaRPr lang="en-US" sz="2800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If technology good at </a:t>
            </a:r>
            <a:r>
              <a:rPr lang="en-US" sz="2800" u="sng" dirty="0"/>
              <a:t>harder</a:t>
            </a:r>
            <a:r>
              <a:rPr lang="en-US" sz="2800" dirty="0"/>
              <a:t> task </a:t>
            </a:r>
            <a:r>
              <a:rPr lang="en-US" sz="2800" dirty="0">
                <a:sym typeface="Wingdings" pitchFamily="2" charset="2"/>
              </a:rPr>
              <a:t> technology good at </a:t>
            </a:r>
            <a:r>
              <a:rPr lang="en-US" sz="2800" u="sng" dirty="0">
                <a:sym typeface="Wingdings" pitchFamily="2" charset="2"/>
              </a:rPr>
              <a:t>easier</a:t>
            </a:r>
            <a:r>
              <a:rPr lang="en-US" sz="2800" dirty="0">
                <a:sym typeface="Wingdings" pitchFamily="2" charset="2"/>
              </a:rPr>
              <a:t> task</a:t>
            </a:r>
            <a:endParaRPr lang="en-US" sz="28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853FC6-F56C-ABAD-CD24-C2A9BF300BF7}"/>
              </a:ext>
            </a:extLst>
          </p:cNvPr>
          <p:cNvSpPr/>
          <p:nvPr/>
        </p:nvSpPr>
        <p:spPr>
          <a:xfrm>
            <a:off x="1203960" y="237745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845A51-84E6-6F08-1986-70E4D67CB19A}"/>
              </a:ext>
            </a:extLst>
          </p:cNvPr>
          <p:cNvSpPr txBox="1"/>
          <p:nvPr/>
        </p:nvSpPr>
        <p:spPr>
          <a:xfrm>
            <a:off x="1203960" y="237745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72E2E0-385C-F5FD-1168-D23DBFE6589D}"/>
              </a:ext>
            </a:extLst>
          </p:cNvPr>
          <p:cNvSpPr txBox="1"/>
          <p:nvPr/>
        </p:nvSpPr>
        <p:spPr>
          <a:xfrm>
            <a:off x="1203960" y="333757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CA1C48A-AD92-631C-F842-30BF8AD63D22}"/>
              </a:ext>
            </a:extLst>
          </p:cNvPr>
          <p:cNvSpPr/>
          <p:nvPr/>
        </p:nvSpPr>
        <p:spPr>
          <a:xfrm>
            <a:off x="5318760" y="237745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380A64-C5DB-F698-9CB7-B8113DB75E8A}"/>
              </a:ext>
            </a:extLst>
          </p:cNvPr>
          <p:cNvSpPr txBox="1"/>
          <p:nvPr/>
        </p:nvSpPr>
        <p:spPr>
          <a:xfrm>
            <a:off x="5318760" y="237745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6E89E2-DFD6-E10C-33BC-AF529B4E4299}"/>
              </a:ext>
            </a:extLst>
          </p:cNvPr>
          <p:cNvSpPr txBox="1"/>
          <p:nvPr/>
        </p:nvSpPr>
        <p:spPr>
          <a:xfrm>
            <a:off x="5318760" y="333757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dirty="0"/>
              <a:t>Manual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C232E2-6BA9-A05B-C2EA-28C40F224B59}"/>
              </a:ext>
            </a:extLst>
          </p:cNvPr>
          <p:cNvSpPr/>
          <p:nvPr/>
        </p:nvSpPr>
        <p:spPr>
          <a:xfrm>
            <a:off x="3261360" y="2377450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97CB3-A545-C8AE-7F30-B024EEF831A1}"/>
              </a:ext>
            </a:extLst>
          </p:cNvPr>
          <p:cNvSpPr txBox="1"/>
          <p:nvPr/>
        </p:nvSpPr>
        <p:spPr>
          <a:xfrm>
            <a:off x="3261360" y="2377440"/>
            <a:ext cx="1554480" cy="91440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BD6D33-FF7E-E24C-D1C3-9B5ABD694ECB}"/>
              </a:ext>
            </a:extLst>
          </p:cNvPr>
          <p:cNvSpPr txBox="1"/>
          <p:nvPr/>
        </p:nvSpPr>
        <p:spPr>
          <a:xfrm>
            <a:off x="3261360" y="333757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07DDC0D-37FD-7A28-229A-4486894D4325}"/>
              </a:ext>
            </a:extLst>
          </p:cNvPr>
          <p:cNvSpPr/>
          <p:nvPr/>
        </p:nvSpPr>
        <p:spPr>
          <a:xfrm>
            <a:off x="7376160" y="2377450"/>
            <a:ext cx="1554480" cy="914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049217-8F10-D8DB-FE56-B26A6BD83D5B}"/>
              </a:ext>
            </a:extLst>
          </p:cNvPr>
          <p:cNvSpPr txBox="1"/>
          <p:nvPr/>
        </p:nvSpPr>
        <p:spPr>
          <a:xfrm>
            <a:off x="7376160" y="237745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069A65-0CA8-6183-3502-B715630C2E87}"/>
              </a:ext>
            </a:extLst>
          </p:cNvPr>
          <p:cNvSpPr txBox="1"/>
          <p:nvPr/>
        </p:nvSpPr>
        <p:spPr>
          <a:xfrm>
            <a:off x="7376160" y="333757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Automate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5679C84-0049-9CF3-2E7A-42238E590A21}"/>
              </a:ext>
            </a:extLst>
          </p:cNvPr>
          <p:cNvSpPr/>
          <p:nvPr/>
        </p:nvSpPr>
        <p:spPr>
          <a:xfrm>
            <a:off x="9433560" y="2377450"/>
            <a:ext cx="1554480" cy="9144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2EA34-83DE-FAB4-98B5-C381AA083EF4}"/>
              </a:ext>
            </a:extLst>
          </p:cNvPr>
          <p:cNvSpPr txBox="1"/>
          <p:nvPr/>
        </p:nvSpPr>
        <p:spPr>
          <a:xfrm>
            <a:off x="9433560" y="237745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Task 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C08B35-62B9-A704-9E0F-2C0A4466B1BE}"/>
              </a:ext>
            </a:extLst>
          </p:cNvPr>
          <p:cNvSpPr txBox="1"/>
          <p:nvPr/>
        </p:nvSpPr>
        <p:spPr>
          <a:xfrm>
            <a:off x="9433560" y="333757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Automate</a:t>
            </a:r>
          </a:p>
        </p:txBody>
      </p:sp>
    </p:spTree>
    <p:extLst>
      <p:ext uri="{BB962C8B-B14F-4D97-AF65-F5344CB8AC3E}">
        <p14:creationId xmlns:p14="http://schemas.microsoft.com/office/powerpoint/2010/main" val="275391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6D6B-E24B-6B88-9E2E-5683FAD2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65A13D-08CE-C338-A635-EBE63CAD0C21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Why AI Requires a New Framework?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8D1840-220C-68FF-A7EA-A253B1DD7BC3}"/>
              </a:ext>
            </a:extLst>
          </p:cNvPr>
          <p:cNvSpPr txBox="1"/>
          <p:nvPr/>
        </p:nvSpPr>
        <p:spPr>
          <a:xfrm>
            <a:off x="731520" y="1148316"/>
            <a:ext cx="1069848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Classic models not suitable to study AI’s 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capabilities are broad, but highly </a:t>
            </a:r>
            <a:r>
              <a:rPr lang="en-US" sz="2800" i="1" dirty="0"/>
              <a:t>jagged</a:t>
            </a:r>
            <a:r>
              <a:rPr lang="en-US" sz="2800" dirty="0"/>
              <a:t> (</a:t>
            </a:r>
            <a:r>
              <a:rPr lang="en-US" sz="2800" dirty="0" err="1"/>
              <a:t>Dell’Acqua</a:t>
            </a:r>
            <a:r>
              <a:rPr lang="en-US" sz="2800" dirty="0"/>
              <a:t> et al., 2023):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800" dirty="0"/>
              <a:t>Writes an essay but can’t count “</a:t>
            </a:r>
            <a:r>
              <a:rPr lang="en-US" sz="2800" dirty="0" err="1"/>
              <a:t>r”s</a:t>
            </a:r>
            <a:r>
              <a:rPr lang="en-US" sz="2800" dirty="0"/>
              <a:t> in “strawberry”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800" dirty="0"/>
              <a:t>Writes code but does “1 + 1 = 11”</a:t>
            </a:r>
          </a:p>
          <a:p>
            <a:pPr marL="971550" lvl="1" indent="-514350">
              <a:buFont typeface="+mj-lt"/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6865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3173-0E37-581D-330F-F0585EAF0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9958E-95A5-3B7A-525F-A994C5F742A6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Why AI Requires a New Framework?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DD1631-3C42-E932-A225-46434819D474}"/>
              </a:ext>
            </a:extLst>
          </p:cNvPr>
          <p:cNvSpPr txBox="1"/>
          <p:nvPr/>
        </p:nvSpPr>
        <p:spPr>
          <a:xfrm>
            <a:off x="731520" y="1148316"/>
            <a:ext cx="106984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Classic models not suitable to study AI’s 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capabilities are broad, but highly </a:t>
            </a:r>
            <a:r>
              <a:rPr lang="en-US" sz="2800" i="1" dirty="0"/>
              <a:t>jagged</a:t>
            </a:r>
            <a:r>
              <a:rPr lang="en-US" sz="2800" dirty="0"/>
              <a:t> (</a:t>
            </a:r>
            <a:r>
              <a:rPr lang="en-US" sz="2800" dirty="0" err="1"/>
              <a:t>Dell’Acqua</a:t>
            </a:r>
            <a:r>
              <a:rPr lang="en-US" sz="2800" dirty="0"/>
              <a:t> et al., 2023):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800" dirty="0"/>
              <a:t>Writes an essay but can’t count “</a:t>
            </a:r>
            <a:r>
              <a:rPr lang="en-US" sz="2800" dirty="0" err="1"/>
              <a:t>r”s</a:t>
            </a:r>
            <a:r>
              <a:rPr lang="en-US" sz="2800" dirty="0"/>
              <a:t> in “strawberry”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800" dirty="0"/>
              <a:t>Writes code but does “1 + 1 = 11”</a:t>
            </a:r>
          </a:p>
          <a:p>
            <a:endParaRPr lang="en-US" sz="2800" dirty="0"/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This paper</a:t>
            </a:r>
            <a:r>
              <a:rPr lang="en-US" sz="2800" dirty="0">
                <a:solidFill>
                  <a:srgbClr val="FF0000"/>
                </a:solidFill>
              </a:rPr>
              <a:t>: suitable theory for studying AI automation in task-based model with </a:t>
            </a:r>
            <a:r>
              <a:rPr lang="en-US" sz="2800" u="sng" dirty="0">
                <a:solidFill>
                  <a:srgbClr val="FF0000"/>
                </a:solidFill>
              </a:rPr>
              <a:t>interdependent</a:t>
            </a:r>
            <a:r>
              <a:rPr lang="en-US" sz="2800" dirty="0">
                <a:solidFill>
                  <a:srgbClr val="FF0000"/>
                </a:solidFill>
              </a:rPr>
              <a:t> tasks + empirical validation.</a:t>
            </a:r>
          </a:p>
        </p:txBody>
      </p:sp>
    </p:spTree>
    <p:extLst>
      <p:ext uri="{BB962C8B-B14F-4D97-AF65-F5344CB8AC3E}">
        <p14:creationId xmlns:p14="http://schemas.microsoft.com/office/powerpoint/2010/main" val="2541052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Our View of Production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5EA253-B554-6F3F-8E39-C7A630F6D97D}"/>
              </a:ext>
            </a:extLst>
          </p:cNvPr>
          <p:cNvSpPr/>
          <p:nvPr/>
        </p:nvSpPr>
        <p:spPr>
          <a:xfrm>
            <a:off x="1203960" y="4392682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1DBD65-D0E4-736B-C335-08591F2E9E2F}"/>
              </a:ext>
            </a:extLst>
          </p:cNvPr>
          <p:cNvSpPr txBox="1"/>
          <p:nvPr/>
        </p:nvSpPr>
        <p:spPr>
          <a:xfrm>
            <a:off x="1203960" y="4392682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B289339-8A0F-574E-304A-EE5D7716505F}"/>
              </a:ext>
            </a:extLst>
          </p:cNvPr>
          <p:cNvSpPr/>
          <p:nvPr/>
        </p:nvSpPr>
        <p:spPr>
          <a:xfrm>
            <a:off x="3261360" y="4392682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5B3228-58CA-A588-CF55-E7CFA66522F0}"/>
              </a:ext>
            </a:extLst>
          </p:cNvPr>
          <p:cNvSpPr txBox="1"/>
          <p:nvPr/>
        </p:nvSpPr>
        <p:spPr>
          <a:xfrm>
            <a:off x="3261360" y="4392682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  <a:endParaRPr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2F56D75-6B0A-3E3F-A6D6-B96461A288E8}"/>
              </a:ext>
            </a:extLst>
          </p:cNvPr>
          <p:cNvSpPr/>
          <p:nvPr/>
        </p:nvSpPr>
        <p:spPr>
          <a:xfrm>
            <a:off x="5318760" y="4392682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73DD8A-96C5-55DA-2995-7702E168213E}"/>
              </a:ext>
            </a:extLst>
          </p:cNvPr>
          <p:cNvSpPr txBox="1"/>
          <p:nvPr/>
        </p:nvSpPr>
        <p:spPr>
          <a:xfrm>
            <a:off x="5318760" y="4392682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  <a:endParaRPr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C0F49B4-9627-720F-8B56-9EA8E9FB20D0}"/>
              </a:ext>
            </a:extLst>
          </p:cNvPr>
          <p:cNvSpPr/>
          <p:nvPr/>
        </p:nvSpPr>
        <p:spPr>
          <a:xfrm>
            <a:off x="7376160" y="4392682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7A0726-9BA5-1931-F771-D7919656C9AA}"/>
              </a:ext>
            </a:extLst>
          </p:cNvPr>
          <p:cNvSpPr txBox="1"/>
          <p:nvPr/>
        </p:nvSpPr>
        <p:spPr>
          <a:xfrm>
            <a:off x="7376160" y="4392682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E247C1F8-E6D3-1360-BE23-08051301F8D5}"/>
              </a:ext>
            </a:extLst>
          </p:cNvPr>
          <p:cNvSpPr/>
          <p:nvPr/>
        </p:nvSpPr>
        <p:spPr>
          <a:xfrm>
            <a:off x="9433560" y="4392682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BD5FE1-B0DD-C57A-522F-1C715E08E1D2}"/>
              </a:ext>
            </a:extLst>
          </p:cNvPr>
          <p:cNvSpPr txBox="1"/>
          <p:nvPr/>
        </p:nvSpPr>
        <p:spPr>
          <a:xfrm>
            <a:off x="9433560" y="4392682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E284C223-E748-6869-71F0-E6F887538531}"/>
              </a:ext>
            </a:extLst>
          </p:cNvPr>
          <p:cNvSpPr/>
          <p:nvPr/>
        </p:nvSpPr>
        <p:spPr>
          <a:xfrm>
            <a:off x="2827020" y="474015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6A9C7E4B-C1F9-9F1E-4F72-454B350BC67F}"/>
              </a:ext>
            </a:extLst>
          </p:cNvPr>
          <p:cNvSpPr/>
          <p:nvPr/>
        </p:nvSpPr>
        <p:spPr>
          <a:xfrm>
            <a:off x="4884420" y="474015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A9A5D902-517A-6B8F-6A40-052B3BFD8E69}"/>
              </a:ext>
            </a:extLst>
          </p:cNvPr>
          <p:cNvSpPr/>
          <p:nvPr/>
        </p:nvSpPr>
        <p:spPr>
          <a:xfrm>
            <a:off x="6941820" y="474015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40F201F0-EC44-8366-9AC7-44B498A3DAE4}"/>
              </a:ext>
            </a:extLst>
          </p:cNvPr>
          <p:cNvSpPr/>
          <p:nvPr/>
        </p:nvSpPr>
        <p:spPr>
          <a:xfrm>
            <a:off x="8999220" y="474015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F5F01-60F2-AAB8-332A-4E26D18AFBF0}"/>
              </a:ext>
            </a:extLst>
          </p:cNvPr>
          <p:cNvSpPr txBox="1"/>
          <p:nvPr/>
        </p:nvSpPr>
        <p:spPr>
          <a:xfrm>
            <a:off x="731520" y="1148316"/>
            <a:ext cx="106984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Worker’s jobs is a </a:t>
            </a:r>
            <a:r>
              <a:rPr lang="en-US" sz="2800" b="1" dirty="0"/>
              <a:t>sequence </a:t>
            </a:r>
            <a:r>
              <a:rPr lang="en-US" sz="2800" dirty="0"/>
              <a:t>of </a:t>
            </a:r>
            <a:r>
              <a:rPr lang="en-US" sz="2800" b="1" dirty="0"/>
              <a:t>interdependent </a:t>
            </a:r>
            <a:r>
              <a:rPr lang="en-US" sz="2800" dirty="0"/>
              <a:t>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 a wild assumption: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Inevitably, workers perform their tasks in some logical order,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Outputs of some tasks are input of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F5AC86-A9C2-6C38-D679-BE0A4052D5F4}"/>
              </a:ext>
            </a:extLst>
          </p:cNvPr>
          <p:cNvSpPr txBox="1"/>
          <p:nvPr/>
        </p:nvSpPr>
        <p:spPr>
          <a:xfrm>
            <a:off x="731520" y="3395085"/>
            <a:ext cx="106984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Example </a:t>
            </a:r>
            <a:r>
              <a:rPr lang="en-US" sz="2800" dirty="0">
                <a:sym typeface="Wingdings" pitchFamily="2" charset="2"/>
              </a:rPr>
              <a:t></a:t>
            </a:r>
            <a:r>
              <a:rPr lang="en-US" sz="2800" dirty="0"/>
              <a:t> Data Scientists: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033D4-2F24-5D4D-15D9-62D31505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0AEE9-1666-C743-4625-4A2233664324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Example Workflow: No Generative AI</a:t>
            </a:r>
            <a:endParaRPr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7726C80-2E22-F684-E0AF-2E4E4EDF0F1C}"/>
              </a:ext>
            </a:extLst>
          </p:cNvPr>
          <p:cNvSpPr/>
          <p:nvPr/>
        </p:nvSpPr>
        <p:spPr>
          <a:xfrm>
            <a:off x="12061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3ADB54-A7A3-7BF8-DADF-80D156124254}"/>
              </a:ext>
            </a:extLst>
          </p:cNvPr>
          <p:cNvSpPr txBox="1"/>
          <p:nvPr/>
        </p:nvSpPr>
        <p:spPr>
          <a:xfrm>
            <a:off x="12061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EE36ECA-DF52-9E3D-AAD8-9776DBB78313}"/>
              </a:ext>
            </a:extLst>
          </p:cNvPr>
          <p:cNvSpPr/>
          <p:nvPr/>
        </p:nvSpPr>
        <p:spPr>
          <a:xfrm>
            <a:off x="32635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56EAB0-ECE0-1A4A-4184-5877E71B76A4}"/>
              </a:ext>
            </a:extLst>
          </p:cNvPr>
          <p:cNvSpPr txBox="1"/>
          <p:nvPr/>
        </p:nvSpPr>
        <p:spPr>
          <a:xfrm>
            <a:off x="32635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B6C8CD5-EA64-2E63-4BA3-21D9513666C7}"/>
              </a:ext>
            </a:extLst>
          </p:cNvPr>
          <p:cNvSpPr/>
          <p:nvPr/>
        </p:nvSpPr>
        <p:spPr>
          <a:xfrm>
            <a:off x="53209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634C48-5EDA-E703-D97D-4588591C6A93}"/>
              </a:ext>
            </a:extLst>
          </p:cNvPr>
          <p:cNvSpPr txBox="1"/>
          <p:nvPr/>
        </p:nvSpPr>
        <p:spPr>
          <a:xfrm>
            <a:off x="53209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797A493-1F08-BE46-7596-4EE8869248DD}"/>
              </a:ext>
            </a:extLst>
          </p:cNvPr>
          <p:cNvSpPr/>
          <p:nvPr/>
        </p:nvSpPr>
        <p:spPr>
          <a:xfrm>
            <a:off x="73783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9CA17B-6575-F531-66AC-884A1B6B62F4}"/>
              </a:ext>
            </a:extLst>
          </p:cNvPr>
          <p:cNvSpPr txBox="1"/>
          <p:nvPr/>
        </p:nvSpPr>
        <p:spPr>
          <a:xfrm>
            <a:off x="73783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933658A-EEDD-70D2-E5BE-9CD7476E56C6}"/>
              </a:ext>
            </a:extLst>
          </p:cNvPr>
          <p:cNvSpPr/>
          <p:nvPr/>
        </p:nvSpPr>
        <p:spPr>
          <a:xfrm>
            <a:off x="94357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4696F0-B95B-CA0B-FC1F-F35ADD7797AF}"/>
              </a:ext>
            </a:extLst>
          </p:cNvPr>
          <p:cNvSpPr txBox="1"/>
          <p:nvPr/>
        </p:nvSpPr>
        <p:spPr>
          <a:xfrm>
            <a:off x="94357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75A55947-7394-4B38-5E1F-99C973B27C85}"/>
              </a:ext>
            </a:extLst>
          </p:cNvPr>
          <p:cNvSpPr/>
          <p:nvPr/>
        </p:nvSpPr>
        <p:spPr>
          <a:xfrm>
            <a:off x="28291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E70AE72E-F8FF-A4D6-B344-A68EA0605655}"/>
              </a:ext>
            </a:extLst>
          </p:cNvPr>
          <p:cNvSpPr/>
          <p:nvPr/>
        </p:nvSpPr>
        <p:spPr>
          <a:xfrm>
            <a:off x="48865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A73963EE-F163-8730-25F9-6411EC74C602}"/>
              </a:ext>
            </a:extLst>
          </p:cNvPr>
          <p:cNvSpPr/>
          <p:nvPr/>
        </p:nvSpPr>
        <p:spPr>
          <a:xfrm>
            <a:off x="69439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6FB0CDB6-8FE4-977C-FF6D-58C399BC7931}"/>
              </a:ext>
            </a:extLst>
          </p:cNvPr>
          <p:cNvSpPr/>
          <p:nvPr/>
        </p:nvSpPr>
        <p:spPr>
          <a:xfrm>
            <a:off x="90013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B1E83-D81E-4852-226B-7DE45E22D307}"/>
              </a:ext>
            </a:extLst>
          </p:cNvPr>
          <p:cNvSpPr txBox="1"/>
          <p:nvPr/>
        </p:nvSpPr>
        <p:spPr>
          <a:xfrm>
            <a:off x="12039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0BEC5-AF0B-153A-EB86-D9C543A00387}"/>
              </a:ext>
            </a:extLst>
          </p:cNvPr>
          <p:cNvSpPr txBox="1"/>
          <p:nvPr/>
        </p:nvSpPr>
        <p:spPr>
          <a:xfrm>
            <a:off x="53187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dirty="0"/>
              <a:t>Manual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BED1E0-1941-9255-BBB9-4188D27F71BA}"/>
              </a:ext>
            </a:extLst>
          </p:cNvPr>
          <p:cNvSpPr txBox="1"/>
          <p:nvPr/>
        </p:nvSpPr>
        <p:spPr>
          <a:xfrm>
            <a:off x="32613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2D126-214A-B3E6-A69A-69FF37CBA884}"/>
              </a:ext>
            </a:extLst>
          </p:cNvPr>
          <p:cNvSpPr txBox="1"/>
          <p:nvPr/>
        </p:nvSpPr>
        <p:spPr>
          <a:xfrm>
            <a:off x="73761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79269-95FC-1587-2F94-D1BF5DFA32B5}"/>
              </a:ext>
            </a:extLst>
          </p:cNvPr>
          <p:cNvSpPr txBox="1"/>
          <p:nvPr/>
        </p:nvSpPr>
        <p:spPr>
          <a:xfrm>
            <a:off x="94335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FF13FB-748A-5F28-5366-ACD095FAA140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Without AI, all tasks done </a:t>
            </a:r>
            <a:r>
              <a:rPr lang="en-US" sz="2800" b="1" u="sng" dirty="0"/>
              <a:t>manually</a:t>
            </a:r>
            <a:r>
              <a:rPr lang="en-US" sz="2800" b="1" dirty="0"/>
              <a:t> </a:t>
            </a:r>
            <a:r>
              <a:rPr lang="en-US" sz="2800" dirty="0"/>
              <a:t>by human.</a:t>
            </a:r>
          </a:p>
        </p:txBody>
      </p:sp>
      <p:sp>
        <p:nvSpPr>
          <p:cNvPr id="9" name="Google Shape;197;p27">
            <a:extLst>
              <a:ext uri="{FF2B5EF4-FFF2-40B4-BE49-F238E27FC236}">
                <a16:creationId xmlns:a16="http://schemas.microsoft.com/office/drawing/2014/main" id="{14D43221-EA48-8DA1-A0F5-B9F0BF85488F}"/>
              </a:ext>
            </a:extLst>
          </p:cNvPr>
          <p:cNvSpPr txBox="1"/>
          <p:nvPr/>
        </p:nvSpPr>
        <p:spPr>
          <a:xfrm>
            <a:off x="1625394" y="171174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3" name="Google Shape;197;p27">
            <a:extLst>
              <a:ext uri="{FF2B5EF4-FFF2-40B4-BE49-F238E27FC236}">
                <a16:creationId xmlns:a16="http://schemas.microsoft.com/office/drawing/2014/main" id="{03C3730E-1BE2-537C-D60D-393219B74C57}"/>
              </a:ext>
            </a:extLst>
          </p:cNvPr>
          <p:cNvSpPr txBox="1"/>
          <p:nvPr/>
        </p:nvSpPr>
        <p:spPr>
          <a:xfrm>
            <a:off x="3682794" y="168281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16" name="Google Shape;197;p27">
            <a:extLst>
              <a:ext uri="{FF2B5EF4-FFF2-40B4-BE49-F238E27FC236}">
                <a16:creationId xmlns:a16="http://schemas.microsoft.com/office/drawing/2014/main" id="{A0B2934F-613F-E979-D5B8-189343DDA086}"/>
              </a:ext>
            </a:extLst>
          </p:cNvPr>
          <p:cNvSpPr txBox="1"/>
          <p:nvPr/>
        </p:nvSpPr>
        <p:spPr>
          <a:xfrm>
            <a:off x="5740194" y="1671536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17" name="Google Shape;197;p27">
            <a:extLst>
              <a:ext uri="{FF2B5EF4-FFF2-40B4-BE49-F238E27FC236}">
                <a16:creationId xmlns:a16="http://schemas.microsoft.com/office/drawing/2014/main" id="{8C8E567B-17E4-9940-BBC2-12C18059CB45}"/>
              </a:ext>
            </a:extLst>
          </p:cNvPr>
          <p:cNvSpPr txBox="1"/>
          <p:nvPr/>
        </p:nvSpPr>
        <p:spPr>
          <a:xfrm>
            <a:off x="7799032" y="1671535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18" name="Google Shape;197;p27">
            <a:extLst>
              <a:ext uri="{FF2B5EF4-FFF2-40B4-BE49-F238E27FC236}">
                <a16:creationId xmlns:a16="http://schemas.microsoft.com/office/drawing/2014/main" id="{B3D77409-F7C4-1CDB-4DB6-4005EE60C759}"/>
              </a:ext>
            </a:extLst>
          </p:cNvPr>
          <p:cNvSpPr txBox="1"/>
          <p:nvPr/>
        </p:nvSpPr>
        <p:spPr>
          <a:xfrm>
            <a:off x="9856432" y="167153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488294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B8F2-9852-BE65-B620-12203ED53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27BD8A-0325-C8B1-1987-E313BC561337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Example Workflow: With Generative AI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C1964F2-1909-64ED-2229-4BBD17876FEB}"/>
              </a:ext>
            </a:extLst>
          </p:cNvPr>
          <p:cNvSpPr/>
          <p:nvPr/>
        </p:nvSpPr>
        <p:spPr>
          <a:xfrm>
            <a:off x="12061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D2C5FC-FCBB-DBAB-ED1A-00F15C1C1E49}"/>
              </a:ext>
            </a:extLst>
          </p:cNvPr>
          <p:cNvSpPr txBox="1"/>
          <p:nvPr/>
        </p:nvSpPr>
        <p:spPr>
          <a:xfrm>
            <a:off x="12061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C25A676-0AAA-CDE3-8402-BF7D0BA2310D}"/>
              </a:ext>
            </a:extLst>
          </p:cNvPr>
          <p:cNvSpPr/>
          <p:nvPr/>
        </p:nvSpPr>
        <p:spPr>
          <a:xfrm>
            <a:off x="32635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2FD647-F7BC-FC95-0904-BFB8E5B7D36F}"/>
              </a:ext>
            </a:extLst>
          </p:cNvPr>
          <p:cNvSpPr txBox="1"/>
          <p:nvPr/>
        </p:nvSpPr>
        <p:spPr>
          <a:xfrm>
            <a:off x="32635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DAE99B-FE5A-442F-1553-E563465830D8}"/>
              </a:ext>
            </a:extLst>
          </p:cNvPr>
          <p:cNvSpPr/>
          <p:nvPr/>
        </p:nvSpPr>
        <p:spPr>
          <a:xfrm>
            <a:off x="53209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5F126C-AB94-D516-5E88-3BD0FE8BDF53}"/>
              </a:ext>
            </a:extLst>
          </p:cNvPr>
          <p:cNvSpPr txBox="1"/>
          <p:nvPr/>
        </p:nvSpPr>
        <p:spPr>
          <a:xfrm>
            <a:off x="53209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8BB3A8F-C509-10A4-70A3-400D0D4C8A32}"/>
              </a:ext>
            </a:extLst>
          </p:cNvPr>
          <p:cNvSpPr/>
          <p:nvPr/>
        </p:nvSpPr>
        <p:spPr>
          <a:xfrm>
            <a:off x="7378338" y="2377440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877AA1-54A9-4F33-A5A4-D0A38FC83A04}"/>
              </a:ext>
            </a:extLst>
          </p:cNvPr>
          <p:cNvSpPr txBox="1"/>
          <p:nvPr/>
        </p:nvSpPr>
        <p:spPr>
          <a:xfrm>
            <a:off x="73783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E67E565-FD43-20CE-7374-FD62271D159B}"/>
              </a:ext>
            </a:extLst>
          </p:cNvPr>
          <p:cNvSpPr/>
          <p:nvPr/>
        </p:nvSpPr>
        <p:spPr>
          <a:xfrm>
            <a:off x="94357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31C362-868E-6D80-59A5-3C77096B18A6}"/>
              </a:ext>
            </a:extLst>
          </p:cNvPr>
          <p:cNvSpPr txBox="1"/>
          <p:nvPr/>
        </p:nvSpPr>
        <p:spPr>
          <a:xfrm>
            <a:off x="94357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561FB0DB-8BD8-4FF2-9DB6-8A5DF6EC3292}"/>
              </a:ext>
            </a:extLst>
          </p:cNvPr>
          <p:cNvSpPr/>
          <p:nvPr/>
        </p:nvSpPr>
        <p:spPr>
          <a:xfrm>
            <a:off x="28291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9FB9FE76-3C11-D5C1-3777-3ECB49DD3202}"/>
              </a:ext>
            </a:extLst>
          </p:cNvPr>
          <p:cNvSpPr/>
          <p:nvPr/>
        </p:nvSpPr>
        <p:spPr>
          <a:xfrm>
            <a:off x="48865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2CBD373B-38A8-6654-2733-EE928A26246F}"/>
              </a:ext>
            </a:extLst>
          </p:cNvPr>
          <p:cNvSpPr/>
          <p:nvPr/>
        </p:nvSpPr>
        <p:spPr>
          <a:xfrm>
            <a:off x="69439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15FDB530-C991-776D-7EA5-A08A49C77662}"/>
              </a:ext>
            </a:extLst>
          </p:cNvPr>
          <p:cNvSpPr/>
          <p:nvPr/>
        </p:nvSpPr>
        <p:spPr>
          <a:xfrm>
            <a:off x="90013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D5A2D-D7B6-A47D-D336-7EBE6F9F43AC}"/>
              </a:ext>
            </a:extLst>
          </p:cNvPr>
          <p:cNvSpPr txBox="1"/>
          <p:nvPr/>
        </p:nvSpPr>
        <p:spPr>
          <a:xfrm>
            <a:off x="12039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0DEAC-7141-2271-ACF1-6ABF4435D750}"/>
              </a:ext>
            </a:extLst>
          </p:cNvPr>
          <p:cNvSpPr txBox="1"/>
          <p:nvPr/>
        </p:nvSpPr>
        <p:spPr>
          <a:xfrm>
            <a:off x="53187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dirty="0"/>
              <a:t>Manual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3625DD-C2B6-10E8-27DA-DA345C9E7235}"/>
              </a:ext>
            </a:extLst>
          </p:cNvPr>
          <p:cNvSpPr txBox="1"/>
          <p:nvPr/>
        </p:nvSpPr>
        <p:spPr>
          <a:xfrm>
            <a:off x="32613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D7E36-64AB-4057-85F3-717E0B8E8E67}"/>
              </a:ext>
            </a:extLst>
          </p:cNvPr>
          <p:cNvSpPr txBox="1"/>
          <p:nvPr/>
        </p:nvSpPr>
        <p:spPr>
          <a:xfrm>
            <a:off x="73761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A507F-117D-C998-9C50-F3089904802F}"/>
              </a:ext>
            </a:extLst>
          </p:cNvPr>
          <p:cNvSpPr txBox="1"/>
          <p:nvPr/>
        </p:nvSpPr>
        <p:spPr>
          <a:xfrm>
            <a:off x="94335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BCB7EB-A63C-4B3D-EEC2-E27043F4F87C}"/>
              </a:ext>
            </a:extLst>
          </p:cNvPr>
          <p:cNvSpPr/>
          <p:nvPr/>
        </p:nvSpPr>
        <p:spPr>
          <a:xfrm>
            <a:off x="1697082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Ask AI to do the task</a:t>
            </a:r>
          </a:p>
          <a:p>
            <a:pPr algn="ctr"/>
            <a:r>
              <a:rPr lang="en-US" sz="1600" dirty="0"/>
              <a:t>(“prompt”)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635B2F-B525-CEC9-7602-B3CD97FF457D}"/>
              </a:ext>
            </a:extLst>
          </p:cNvPr>
          <p:cNvSpPr/>
          <p:nvPr/>
        </p:nvSpPr>
        <p:spPr>
          <a:xfrm>
            <a:off x="3759381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AI </a:t>
            </a:r>
            <a:r>
              <a:rPr lang="en-US" sz="1600" i="1" dirty="0"/>
              <a:t>tries</a:t>
            </a:r>
            <a:r>
              <a:rPr lang="en-US" sz="1600" dirty="0"/>
              <a:t> to </a:t>
            </a:r>
          </a:p>
          <a:p>
            <a:pPr algn="ctr"/>
            <a:r>
              <a:rPr lang="en-US" sz="1600" dirty="0"/>
              <a:t>do the task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6A723D1-B4A7-77EE-4057-5A3CE6778B82}"/>
              </a:ext>
            </a:extLst>
          </p:cNvPr>
          <p:cNvSpPr/>
          <p:nvPr/>
        </p:nvSpPr>
        <p:spPr>
          <a:xfrm>
            <a:off x="5821680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Evaluate if output is acceptable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7F9768-B33C-877F-1AE9-B7BA4725F9E9}"/>
              </a:ext>
            </a:extLst>
          </p:cNvPr>
          <p:cNvSpPr/>
          <p:nvPr/>
        </p:nvSpPr>
        <p:spPr>
          <a:xfrm>
            <a:off x="8153400" y="4188823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2DB38B-2F55-9F6C-ED4E-C250EB4455D4}"/>
              </a:ext>
            </a:extLst>
          </p:cNvPr>
          <p:cNvSpPr/>
          <p:nvPr/>
        </p:nvSpPr>
        <p:spPr>
          <a:xfrm>
            <a:off x="8153400" y="5432842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</a:t>
            </a:r>
          </a:p>
        </p:txBody>
      </p:sp>
      <p:sp>
        <p:nvSpPr>
          <p:cNvPr id="15" name="Google Shape;197;p27">
            <a:extLst>
              <a:ext uri="{FF2B5EF4-FFF2-40B4-BE49-F238E27FC236}">
                <a16:creationId xmlns:a16="http://schemas.microsoft.com/office/drawing/2014/main" id="{08CA9D72-2E58-A600-530C-1BD12E6EB614}"/>
              </a:ext>
            </a:extLst>
          </p:cNvPr>
          <p:cNvSpPr txBox="1"/>
          <p:nvPr/>
        </p:nvSpPr>
        <p:spPr>
          <a:xfrm>
            <a:off x="2263422" y="4188823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16" name="Google Shape;198;p27">
            <a:extLst>
              <a:ext uri="{FF2B5EF4-FFF2-40B4-BE49-F238E27FC236}">
                <a16:creationId xmlns:a16="http://schemas.microsoft.com/office/drawing/2014/main" id="{5C4C4AFE-F9AB-8616-0A0C-33C9DB9BF809}"/>
              </a:ext>
            </a:extLst>
          </p:cNvPr>
          <p:cNvSpPr txBox="1"/>
          <p:nvPr/>
        </p:nvSpPr>
        <p:spPr>
          <a:xfrm>
            <a:off x="4325721" y="4186560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17" name="Google Shape;197;p27">
            <a:extLst>
              <a:ext uri="{FF2B5EF4-FFF2-40B4-BE49-F238E27FC236}">
                <a16:creationId xmlns:a16="http://schemas.microsoft.com/office/drawing/2014/main" id="{2064A7DE-438C-E983-EFC6-23FDDBF0A29A}"/>
              </a:ext>
            </a:extLst>
          </p:cNvPr>
          <p:cNvSpPr txBox="1"/>
          <p:nvPr/>
        </p:nvSpPr>
        <p:spPr>
          <a:xfrm>
            <a:off x="6388020" y="420490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EC849A6-2BC7-D7B8-01B0-F6D62E823C04}"/>
              </a:ext>
            </a:extLst>
          </p:cNvPr>
          <p:cNvCxnSpPr>
            <a:cxnSpLocks/>
            <a:stCxn id="38" idx="2"/>
            <a:endCxn id="10" idx="1"/>
          </p:cNvCxnSpPr>
          <p:nvPr/>
        </p:nvCxnSpPr>
        <p:spPr>
          <a:xfrm rot="5400000">
            <a:off x="3334948" y="1306502"/>
            <a:ext cx="2227217" cy="5502948"/>
          </a:xfrm>
          <a:prstGeom prst="curvedConnector4">
            <a:avLst>
              <a:gd name="adj1" fmla="val 37977"/>
              <a:gd name="adj2" fmla="val 10415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903542B6-D106-4DEB-C982-4E67FC507272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1360" y="5158873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0C787F67-A21B-8C17-4B34-85C1B46B56CB}"/>
              </a:ext>
            </a:extLst>
          </p:cNvPr>
          <p:cNvCxnSpPr>
            <a:cxnSpLocks/>
          </p:cNvCxnSpPr>
          <p:nvPr/>
        </p:nvCxnSpPr>
        <p:spPr>
          <a:xfrm>
            <a:off x="5323659" y="5146161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F8CA95E7-CBC1-FB67-ECEF-620BD128B503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376160" y="4463143"/>
            <a:ext cx="777240" cy="6703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67AC0903-B3E3-0EEB-ACFF-25ADCCB1755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374569" y="5142031"/>
            <a:ext cx="778831" cy="56513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BC1166C7-2F72-45B6-8040-C9F28F5CC743}"/>
              </a:ext>
            </a:extLst>
          </p:cNvPr>
          <p:cNvCxnSpPr>
            <a:cxnSpLocks/>
            <a:stCxn id="13" idx="3"/>
            <a:endCxn id="39" idx="2"/>
          </p:cNvCxnSpPr>
          <p:nvPr/>
        </p:nvCxnSpPr>
        <p:spPr>
          <a:xfrm flipV="1">
            <a:off x="9090660" y="2944368"/>
            <a:ext cx="166770" cy="15187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>
            <a:extLst>
              <a:ext uri="{FF2B5EF4-FFF2-40B4-BE49-F238E27FC236}">
                <a16:creationId xmlns:a16="http://schemas.microsoft.com/office/drawing/2014/main" id="{85ABC933-3BA2-AA38-30C9-B5C7BDB871CC}"/>
              </a:ext>
            </a:extLst>
          </p:cNvPr>
          <p:cNvCxnSpPr>
            <a:cxnSpLocks/>
          </p:cNvCxnSpPr>
          <p:nvPr/>
        </p:nvCxnSpPr>
        <p:spPr>
          <a:xfrm rot="5400000" flipH="1">
            <a:off x="5411016" y="2770468"/>
            <a:ext cx="274320" cy="6147708"/>
          </a:xfrm>
          <a:prstGeom prst="curvedConnector3">
            <a:avLst>
              <a:gd name="adj1" fmla="val -223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330FD91-7861-A347-C80F-5E3747E57FB6}"/>
              </a:ext>
            </a:extLst>
          </p:cNvPr>
          <p:cNvSpPr txBox="1"/>
          <p:nvPr/>
        </p:nvSpPr>
        <p:spPr>
          <a:xfrm>
            <a:off x="7481499" y="557724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1-P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AAF439-6010-4A38-53C4-BEB615E4F2F6}"/>
              </a:ext>
            </a:extLst>
          </p:cNvPr>
          <p:cNvSpPr txBox="1"/>
          <p:nvPr/>
        </p:nvSpPr>
        <p:spPr>
          <a:xfrm>
            <a:off x="7568946" y="434292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3F2B98-5B18-D2E4-7E0B-0B4237764C24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</a:t>
            </a:r>
            <a:r>
              <a:rPr lang="en-US" sz="2800" b="1" u="sng" dirty="0"/>
              <a:t>augments</a:t>
            </a:r>
            <a:r>
              <a:rPr lang="en-US" sz="2800" b="1" dirty="0"/>
              <a:t> </a:t>
            </a:r>
            <a:r>
              <a:rPr lang="en-US" sz="2800" dirty="0"/>
              <a:t>workers’ efforts in performing tasks.</a:t>
            </a:r>
          </a:p>
        </p:txBody>
      </p:sp>
      <p:sp>
        <p:nvSpPr>
          <p:cNvPr id="18" name="Google Shape;198;p27">
            <a:extLst>
              <a:ext uri="{FF2B5EF4-FFF2-40B4-BE49-F238E27FC236}">
                <a16:creationId xmlns:a16="http://schemas.microsoft.com/office/drawing/2014/main" id="{E7507E22-AE7D-E214-15F0-FE29536FFFAD}"/>
              </a:ext>
            </a:extLst>
          </p:cNvPr>
          <p:cNvSpPr txBox="1"/>
          <p:nvPr/>
        </p:nvSpPr>
        <p:spPr>
          <a:xfrm>
            <a:off x="7700214" y="1855150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35" name="Google Shape;197;p27">
            <a:extLst>
              <a:ext uri="{FF2B5EF4-FFF2-40B4-BE49-F238E27FC236}">
                <a16:creationId xmlns:a16="http://schemas.microsoft.com/office/drawing/2014/main" id="{6E852C09-DE55-768C-195C-EF5A7D03CC22}"/>
              </a:ext>
            </a:extLst>
          </p:cNvPr>
          <p:cNvSpPr txBox="1"/>
          <p:nvPr/>
        </p:nvSpPr>
        <p:spPr>
          <a:xfrm>
            <a:off x="1625394" y="171174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41" name="Google Shape;197;p27">
            <a:extLst>
              <a:ext uri="{FF2B5EF4-FFF2-40B4-BE49-F238E27FC236}">
                <a16:creationId xmlns:a16="http://schemas.microsoft.com/office/drawing/2014/main" id="{54C447EA-9510-201B-5341-BD75BA53C80C}"/>
              </a:ext>
            </a:extLst>
          </p:cNvPr>
          <p:cNvSpPr txBox="1"/>
          <p:nvPr/>
        </p:nvSpPr>
        <p:spPr>
          <a:xfrm>
            <a:off x="3682794" y="168281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42" name="Google Shape;197;p27">
            <a:extLst>
              <a:ext uri="{FF2B5EF4-FFF2-40B4-BE49-F238E27FC236}">
                <a16:creationId xmlns:a16="http://schemas.microsoft.com/office/drawing/2014/main" id="{8783B077-1AED-0E11-52FD-788E8BC81BFA}"/>
              </a:ext>
            </a:extLst>
          </p:cNvPr>
          <p:cNvSpPr txBox="1"/>
          <p:nvPr/>
        </p:nvSpPr>
        <p:spPr>
          <a:xfrm>
            <a:off x="5740194" y="1671536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44" name="Google Shape;197;p27">
            <a:extLst>
              <a:ext uri="{FF2B5EF4-FFF2-40B4-BE49-F238E27FC236}">
                <a16:creationId xmlns:a16="http://schemas.microsoft.com/office/drawing/2014/main" id="{4C35B15E-9349-CDB1-CEED-BBD744ACFA96}"/>
              </a:ext>
            </a:extLst>
          </p:cNvPr>
          <p:cNvSpPr txBox="1"/>
          <p:nvPr/>
        </p:nvSpPr>
        <p:spPr>
          <a:xfrm>
            <a:off x="9856432" y="167153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8829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0531-AD89-F744-1FD5-E55BFF116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877706-D5A8-66E3-19AF-EB4F8EA1F71E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Example Workflow: With Generative AI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10C2137-890D-1E31-ED93-4DE5EA6EBD6C}"/>
              </a:ext>
            </a:extLst>
          </p:cNvPr>
          <p:cNvSpPr/>
          <p:nvPr/>
        </p:nvSpPr>
        <p:spPr>
          <a:xfrm>
            <a:off x="12061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514E3D-7586-921F-88D6-25125401E4A9}"/>
              </a:ext>
            </a:extLst>
          </p:cNvPr>
          <p:cNvSpPr txBox="1"/>
          <p:nvPr/>
        </p:nvSpPr>
        <p:spPr>
          <a:xfrm>
            <a:off x="12061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AA147BD-AD4C-5795-E39F-2ECC2EFB05DA}"/>
              </a:ext>
            </a:extLst>
          </p:cNvPr>
          <p:cNvSpPr/>
          <p:nvPr/>
        </p:nvSpPr>
        <p:spPr>
          <a:xfrm>
            <a:off x="32635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7AF0A2-22B5-4F14-6BB4-07F3360F823D}"/>
              </a:ext>
            </a:extLst>
          </p:cNvPr>
          <p:cNvSpPr txBox="1"/>
          <p:nvPr/>
        </p:nvSpPr>
        <p:spPr>
          <a:xfrm>
            <a:off x="32635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0C0B9F5-978E-316D-E15F-035E9DFCCC96}"/>
              </a:ext>
            </a:extLst>
          </p:cNvPr>
          <p:cNvSpPr/>
          <p:nvPr/>
        </p:nvSpPr>
        <p:spPr>
          <a:xfrm>
            <a:off x="5320938" y="2377440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66411F-891F-6E77-D92B-B38EED76195E}"/>
              </a:ext>
            </a:extLst>
          </p:cNvPr>
          <p:cNvSpPr txBox="1"/>
          <p:nvPr/>
        </p:nvSpPr>
        <p:spPr>
          <a:xfrm>
            <a:off x="5320938" y="2377440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E8DFD42-7762-82EB-CDB0-8EA0F0FEE009}"/>
              </a:ext>
            </a:extLst>
          </p:cNvPr>
          <p:cNvSpPr/>
          <p:nvPr/>
        </p:nvSpPr>
        <p:spPr>
          <a:xfrm>
            <a:off x="7378338" y="2377440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200E6B3-BC96-FF86-40AD-A4B87261CD1B}"/>
              </a:ext>
            </a:extLst>
          </p:cNvPr>
          <p:cNvSpPr txBox="1"/>
          <p:nvPr/>
        </p:nvSpPr>
        <p:spPr>
          <a:xfrm>
            <a:off x="73783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F932D8D-3C29-44DD-3D85-22965F193571}"/>
              </a:ext>
            </a:extLst>
          </p:cNvPr>
          <p:cNvSpPr/>
          <p:nvPr/>
        </p:nvSpPr>
        <p:spPr>
          <a:xfrm>
            <a:off x="94357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72DC80-CAA3-033F-908D-7FC439BA7710}"/>
              </a:ext>
            </a:extLst>
          </p:cNvPr>
          <p:cNvSpPr txBox="1"/>
          <p:nvPr/>
        </p:nvSpPr>
        <p:spPr>
          <a:xfrm>
            <a:off x="94357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73EFF3C2-C2BE-F756-DD35-4D1AB32FCE6A}"/>
              </a:ext>
            </a:extLst>
          </p:cNvPr>
          <p:cNvSpPr/>
          <p:nvPr/>
        </p:nvSpPr>
        <p:spPr>
          <a:xfrm>
            <a:off x="28291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9869F7F7-05A0-BA12-5807-11A09F97D52E}"/>
              </a:ext>
            </a:extLst>
          </p:cNvPr>
          <p:cNvSpPr/>
          <p:nvPr/>
        </p:nvSpPr>
        <p:spPr>
          <a:xfrm>
            <a:off x="48865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836B8106-4AE3-F9D2-2CC8-2B4AB30E2AB6}"/>
              </a:ext>
            </a:extLst>
          </p:cNvPr>
          <p:cNvSpPr/>
          <p:nvPr/>
        </p:nvSpPr>
        <p:spPr>
          <a:xfrm>
            <a:off x="69439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674EB227-B199-65E9-443C-E0DCA84F5668}"/>
              </a:ext>
            </a:extLst>
          </p:cNvPr>
          <p:cNvSpPr/>
          <p:nvPr/>
        </p:nvSpPr>
        <p:spPr>
          <a:xfrm>
            <a:off x="90013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DAAB5-3BD9-75EB-6EE1-81AA6E209016}"/>
              </a:ext>
            </a:extLst>
          </p:cNvPr>
          <p:cNvSpPr txBox="1"/>
          <p:nvPr/>
        </p:nvSpPr>
        <p:spPr>
          <a:xfrm>
            <a:off x="12039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442AE1-06A2-95AE-3DCE-96206170C2A9}"/>
              </a:ext>
            </a:extLst>
          </p:cNvPr>
          <p:cNvSpPr txBox="1"/>
          <p:nvPr/>
        </p:nvSpPr>
        <p:spPr>
          <a:xfrm>
            <a:off x="53187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0E5F33-1695-3C27-6AC3-F58DCBA77A8D}"/>
              </a:ext>
            </a:extLst>
          </p:cNvPr>
          <p:cNvSpPr txBox="1"/>
          <p:nvPr/>
        </p:nvSpPr>
        <p:spPr>
          <a:xfrm>
            <a:off x="32613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FED2D-817D-0BC9-DFA9-2BB43D4076AE}"/>
              </a:ext>
            </a:extLst>
          </p:cNvPr>
          <p:cNvSpPr txBox="1"/>
          <p:nvPr/>
        </p:nvSpPr>
        <p:spPr>
          <a:xfrm>
            <a:off x="73761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D12619-657D-AFFB-2497-C02E81ACDA6C}"/>
              </a:ext>
            </a:extLst>
          </p:cNvPr>
          <p:cNvSpPr txBox="1"/>
          <p:nvPr/>
        </p:nvSpPr>
        <p:spPr>
          <a:xfrm>
            <a:off x="94335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097C3E-D7CC-D23A-7C55-AC7AC4C9C6F5}"/>
              </a:ext>
            </a:extLst>
          </p:cNvPr>
          <p:cNvSpPr/>
          <p:nvPr/>
        </p:nvSpPr>
        <p:spPr>
          <a:xfrm>
            <a:off x="1697082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Ask AI to do </a:t>
            </a:r>
            <a:r>
              <a:rPr lang="en-US" sz="1600" dirty="0">
                <a:solidFill>
                  <a:srgbClr val="FFC000"/>
                </a:solidFill>
              </a:rPr>
              <a:t>both </a:t>
            </a:r>
            <a:r>
              <a:rPr lang="en-US" sz="1600" dirty="0"/>
              <a:t>tasks</a:t>
            </a:r>
          </a:p>
          <a:p>
            <a:pPr algn="ctr"/>
            <a:r>
              <a:rPr lang="en-US" sz="1600" dirty="0"/>
              <a:t>(“prompt”)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9B8D4AA-97D1-3A9A-626E-5BC2FB05C925}"/>
              </a:ext>
            </a:extLst>
          </p:cNvPr>
          <p:cNvSpPr/>
          <p:nvPr/>
        </p:nvSpPr>
        <p:spPr>
          <a:xfrm>
            <a:off x="3759381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AI </a:t>
            </a:r>
            <a:r>
              <a:rPr lang="en-US" sz="1600" i="1" dirty="0"/>
              <a:t>tries</a:t>
            </a:r>
            <a:r>
              <a:rPr lang="en-US" sz="1600" dirty="0"/>
              <a:t> to </a:t>
            </a:r>
          </a:p>
          <a:p>
            <a:pPr algn="ctr"/>
            <a:r>
              <a:rPr lang="en-US" sz="1600" dirty="0"/>
              <a:t>do </a:t>
            </a:r>
            <a:r>
              <a:rPr lang="en-US" sz="1600" dirty="0">
                <a:solidFill>
                  <a:srgbClr val="FFC000"/>
                </a:solidFill>
              </a:rPr>
              <a:t>both </a:t>
            </a:r>
            <a:r>
              <a:rPr lang="en-US" sz="1600" dirty="0"/>
              <a:t>tasks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64E024D-FF32-1231-D26B-040D61516546}"/>
              </a:ext>
            </a:extLst>
          </p:cNvPr>
          <p:cNvSpPr/>
          <p:nvPr/>
        </p:nvSpPr>
        <p:spPr>
          <a:xfrm>
            <a:off x="5821680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Evaluate if output is acceptable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39A396B-7243-D912-05D2-A5F03DA832CA}"/>
              </a:ext>
            </a:extLst>
          </p:cNvPr>
          <p:cNvSpPr/>
          <p:nvPr/>
        </p:nvSpPr>
        <p:spPr>
          <a:xfrm>
            <a:off x="8153400" y="4188823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99B673-0853-F8BF-C89D-B96D4B715257}"/>
              </a:ext>
            </a:extLst>
          </p:cNvPr>
          <p:cNvSpPr/>
          <p:nvPr/>
        </p:nvSpPr>
        <p:spPr>
          <a:xfrm>
            <a:off x="8153400" y="5432842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</a:t>
            </a:r>
          </a:p>
        </p:txBody>
      </p:sp>
      <p:sp>
        <p:nvSpPr>
          <p:cNvPr id="15" name="Google Shape;197;p27">
            <a:extLst>
              <a:ext uri="{FF2B5EF4-FFF2-40B4-BE49-F238E27FC236}">
                <a16:creationId xmlns:a16="http://schemas.microsoft.com/office/drawing/2014/main" id="{AD209E4C-2A68-71AF-C1D0-050153C1C058}"/>
              </a:ext>
            </a:extLst>
          </p:cNvPr>
          <p:cNvSpPr txBox="1"/>
          <p:nvPr/>
        </p:nvSpPr>
        <p:spPr>
          <a:xfrm>
            <a:off x="2263422" y="4188823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16" name="Google Shape;198;p27">
            <a:extLst>
              <a:ext uri="{FF2B5EF4-FFF2-40B4-BE49-F238E27FC236}">
                <a16:creationId xmlns:a16="http://schemas.microsoft.com/office/drawing/2014/main" id="{A194BEF3-65CC-7F58-0623-E16AA2B5848B}"/>
              </a:ext>
            </a:extLst>
          </p:cNvPr>
          <p:cNvSpPr txBox="1"/>
          <p:nvPr/>
        </p:nvSpPr>
        <p:spPr>
          <a:xfrm>
            <a:off x="4325721" y="4186560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17" name="Google Shape;197;p27">
            <a:extLst>
              <a:ext uri="{FF2B5EF4-FFF2-40B4-BE49-F238E27FC236}">
                <a16:creationId xmlns:a16="http://schemas.microsoft.com/office/drawing/2014/main" id="{FF9B55AB-7D5F-AFB1-F081-E5F30AD69AB8}"/>
              </a:ext>
            </a:extLst>
          </p:cNvPr>
          <p:cNvSpPr txBox="1"/>
          <p:nvPr/>
        </p:nvSpPr>
        <p:spPr>
          <a:xfrm>
            <a:off x="6388020" y="420490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771D9A30-E77E-A3A3-89B8-D73ADD290245}"/>
              </a:ext>
            </a:extLst>
          </p:cNvPr>
          <p:cNvCxnSpPr>
            <a:cxnSpLocks/>
            <a:stCxn id="37" idx="2"/>
            <a:endCxn id="10" idx="1"/>
          </p:cNvCxnSpPr>
          <p:nvPr/>
        </p:nvCxnSpPr>
        <p:spPr>
          <a:xfrm rot="5400000">
            <a:off x="2306248" y="2335202"/>
            <a:ext cx="2227217" cy="3445548"/>
          </a:xfrm>
          <a:prstGeom prst="curvedConnector4">
            <a:avLst>
              <a:gd name="adj1" fmla="val 37977"/>
              <a:gd name="adj2" fmla="val 10663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15A5E77B-4619-3021-FC2F-29CA3BD7FDA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1360" y="5158873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0589E86D-892F-1D9C-ED79-02AD043F46BD}"/>
              </a:ext>
            </a:extLst>
          </p:cNvPr>
          <p:cNvCxnSpPr>
            <a:cxnSpLocks/>
          </p:cNvCxnSpPr>
          <p:nvPr/>
        </p:nvCxnSpPr>
        <p:spPr>
          <a:xfrm>
            <a:off x="5323659" y="5146161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8EB5CE00-CAC7-9195-7238-CF1CEE646F5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376160" y="4463143"/>
            <a:ext cx="777240" cy="6703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1BC37743-D577-C290-9680-7228C0C5816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374569" y="5142031"/>
            <a:ext cx="778831" cy="56513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DD4D96DE-1883-228C-D23A-31EBCB62D753}"/>
              </a:ext>
            </a:extLst>
          </p:cNvPr>
          <p:cNvCxnSpPr>
            <a:cxnSpLocks/>
            <a:stCxn id="13" idx="3"/>
            <a:endCxn id="39" idx="2"/>
          </p:cNvCxnSpPr>
          <p:nvPr/>
        </p:nvCxnSpPr>
        <p:spPr>
          <a:xfrm flipV="1">
            <a:off x="9090660" y="2944368"/>
            <a:ext cx="166770" cy="15187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3EC6E85A-2FFC-6A16-8CB8-91565BD2F395}"/>
              </a:ext>
            </a:extLst>
          </p:cNvPr>
          <p:cNvCxnSpPr>
            <a:cxnSpLocks/>
          </p:cNvCxnSpPr>
          <p:nvPr/>
        </p:nvCxnSpPr>
        <p:spPr>
          <a:xfrm rot="5400000" flipH="1">
            <a:off x="5411016" y="2770468"/>
            <a:ext cx="274320" cy="6147708"/>
          </a:xfrm>
          <a:prstGeom prst="curvedConnector3">
            <a:avLst>
              <a:gd name="adj1" fmla="val -223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372F994-4275-8456-A66E-DA38B934D1A2}"/>
              </a:ext>
            </a:extLst>
          </p:cNvPr>
          <p:cNvSpPr txBox="1"/>
          <p:nvPr/>
        </p:nvSpPr>
        <p:spPr>
          <a:xfrm>
            <a:off x="7481499" y="557724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1-P</a:t>
            </a:r>
            <a:r>
              <a:rPr lang="en-US" sz="1200" baseline="30000" dirty="0"/>
              <a:t>’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7D487-C396-BFE4-B9FD-1900520F5D51}"/>
              </a:ext>
            </a:extLst>
          </p:cNvPr>
          <p:cNvSpPr txBox="1"/>
          <p:nvPr/>
        </p:nvSpPr>
        <p:spPr>
          <a:xfrm>
            <a:off x="7568946" y="434292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</a:t>
            </a:r>
            <a:r>
              <a:rPr lang="en-US" sz="1200" baseline="30000" dirty="0"/>
              <a:t>’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585829-B219-9144-A9CB-B1FDDD5D0E87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also helps workers by </a:t>
            </a:r>
            <a:r>
              <a:rPr lang="en-US" sz="2800" b="1" u="sng" dirty="0"/>
              <a:t>automating</a:t>
            </a:r>
            <a:r>
              <a:rPr lang="en-US" sz="2800" dirty="0"/>
              <a:t> tasks.</a:t>
            </a:r>
          </a:p>
        </p:txBody>
      </p:sp>
      <p:sp>
        <p:nvSpPr>
          <p:cNvPr id="3" name="Google Shape;198;p27">
            <a:extLst>
              <a:ext uri="{FF2B5EF4-FFF2-40B4-BE49-F238E27FC236}">
                <a16:creationId xmlns:a16="http://schemas.microsoft.com/office/drawing/2014/main" id="{9B21B8BE-B200-4C4E-417D-1ACD77D25605}"/>
              </a:ext>
            </a:extLst>
          </p:cNvPr>
          <p:cNvSpPr txBox="1"/>
          <p:nvPr/>
        </p:nvSpPr>
        <p:spPr>
          <a:xfrm>
            <a:off x="7700214" y="1855150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9" name="Google Shape;198;p27">
            <a:extLst>
              <a:ext uri="{FF2B5EF4-FFF2-40B4-BE49-F238E27FC236}">
                <a16:creationId xmlns:a16="http://schemas.microsoft.com/office/drawing/2014/main" id="{56957537-4490-A5A1-99BF-EF0D8C3E2AC7}"/>
              </a:ext>
            </a:extLst>
          </p:cNvPr>
          <p:cNvSpPr txBox="1"/>
          <p:nvPr/>
        </p:nvSpPr>
        <p:spPr>
          <a:xfrm>
            <a:off x="5884768" y="1967855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41" name="Google Shape;197;p27">
            <a:extLst>
              <a:ext uri="{FF2B5EF4-FFF2-40B4-BE49-F238E27FC236}">
                <a16:creationId xmlns:a16="http://schemas.microsoft.com/office/drawing/2014/main" id="{5B38AD6D-DF3A-9CE9-A259-B3A4C0BBB2CF}"/>
              </a:ext>
            </a:extLst>
          </p:cNvPr>
          <p:cNvSpPr txBox="1"/>
          <p:nvPr/>
        </p:nvSpPr>
        <p:spPr>
          <a:xfrm>
            <a:off x="1625394" y="171174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42" name="Google Shape;197;p27">
            <a:extLst>
              <a:ext uri="{FF2B5EF4-FFF2-40B4-BE49-F238E27FC236}">
                <a16:creationId xmlns:a16="http://schemas.microsoft.com/office/drawing/2014/main" id="{35A9AD71-7F02-196B-8468-0415ECAA3BCF}"/>
              </a:ext>
            </a:extLst>
          </p:cNvPr>
          <p:cNvSpPr txBox="1"/>
          <p:nvPr/>
        </p:nvSpPr>
        <p:spPr>
          <a:xfrm>
            <a:off x="3682794" y="168281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47" name="Google Shape;197;p27">
            <a:extLst>
              <a:ext uri="{FF2B5EF4-FFF2-40B4-BE49-F238E27FC236}">
                <a16:creationId xmlns:a16="http://schemas.microsoft.com/office/drawing/2014/main" id="{119A6391-842E-568F-FECD-85FC935B9C9A}"/>
              </a:ext>
            </a:extLst>
          </p:cNvPr>
          <p:cNvSpPr txBox="1"/>
          <p:nvPr/>
        </p:nvSpPr>
        <p:spPr>
          <a:xfrm>
            <a:off x="9856432" y="167153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281283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F21C-9558-EB7C-A176-861F7F050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AAEEE-8DE4-DEAE-19D9-79C40A25FA21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Example Workflow: With Generative AI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0D593E-8A99-5427-0B1A-A2029388FEF1}"/>
              </a:ext>
            </a:extLst>
          </p:cNvPr>
          <p:cNvSpPr/>
          <p:nvPr/>
        </p:nvSpPr>
        <p:spPr>
          <a:xfrm>
            <a:off x="12061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F4005A-EAE6-EDB9-8069-611F18A67F2F}"/>
              </a:ext>
            </a:extLst>
          </p:cNvPr>
          <p:cNvSpPr txBox="1"/>
          <p:nvPr/>
        </p:nvSpPr>
        <p:spPr>
          <a:xfrm>
            <a:off x="12061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0028D7-5151-7CA1-621D-D46BFA3D5E90}"/>
              </a:ext>
            </a:extLst>
          </p:cNvPr>
          <p:cNvSpPr/>
          <p:nvPr/>
        </p:nvSpPr>
        <p:spPr>
          <a:xfrm>
            <a:off x="3263538" y="2377440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827504F-8D7A-C43D-B9AE-DDDB18AD4640}"/>
              </a:ext>
            </a:extLst>
          </p:cNvPr>
          <p:cNvSpPr/>
          <p:nvPr/>
        </p:nvSpPr>
        <p:spPr>
          <a:xfrm>
            <a:off x="5320938" y="2377440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240004-78B2-07A9-5F02-ABCA1F16A8C4}"/>
              </a:ext>
            </a:extLst>
          </p:cNvPr>
          <p:cNvSpPr txBox="1"/>
          <p:nvPr/>
        </p:nvSpPr>
        <p:spPr>
          <a:xfrm>
            <a:off x="5320938" y="2377440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81B0FF80-A794-AE92-3342-6D521F897D52}"/>
              </a:ext>
            </a:extLst>
          </p:cNvPr>
          <p:cNvSpPr/>
          <p:nvPr/>
        </p:nvSpPr>
        <p:spPr>
          <a:xfrm>
            <a:off x="7378338" y="2377440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DC7158-CEA6-A641-C3E5-86C62DF8517E}"/>
              </a:ext>
            </a:extLst>
          </p:cNvPr>
          <p:cNvSpPr txBox="1"/>
          <p:nvPr/>
        </p:nvSpPr>
        <p:spPr>
          <a:xfrm>
            <a:off x="73783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87F4E5E-BC7E-C09C-00C8-DE4D0CD0BA61}"/>
              </a:ext>
            </a:extLst>
          </p:cNvPr>
          <p:cNvSpPr/>
          <p:nvPr/>
        </p:nvSpPr>
        <p:spPr>
          <a:xfrm>
            <a:off x="94357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F8456DC-6528-A0C0-AAAC-289B5ABCEB0E}"/>
              </a:ext>
            </a:extLst>
          </p:cNvPr>
          <p:cNvSpPr txBox="1"/>
          <p:nvPr/>
        </p:nvSpPr>
        <p:spPr>
          <a:xfrm>
            <a:off x="94357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6" name="Right Arrow 35">
            <a:extLst>
              <a:ext uri="{FF2B5EF4-FFF2-40B4-BE49-F238E27FC236}">
                <a16:creationId xmlns:a16="http://schemas.microsoft.com/office/drawing/2014/main" id="{6D201A81-33F3-F284-3991-CF96FF8A1E72}"/>
              </a:ext>
            </a:extLst>
          </p:cNvPr>
          <p:cNvSpPr/>
          <p:nvPr/>
        </p:nvSpPr>
        <p:spPr>
          <a:xfrm>
            <a:off x="28291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DA05D494-337E-E498-9948-6D3ACA095806}"/>
              </a:ext>
            </a:extLst>
          </p:cNvPr>
          <p:cNvSpPr/>
          <p:nvPr/>
        </p:nvSpPr>
        <p:spPr>
          <a:xfrm>
            <a:off x="48865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C21DB1C4-A7C5-9979-8C7A-EFE510C33F5E}"/>
              </a:ext>
            </a:extLst>
          </p:cNvPr>
          <p:cNvSpPr/>
          <p:nvPr/>
        </p:nvSpPr>
        <p:spPr>
          <a:xfrm>
            <a:off x="69439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764C9A02-50D3-0BF7-D500-2F5D3DF921F6}"/>
              </a:ext>
            </a:extLst>
          </p:cNvPr>
          <p:cNvSpPr/>
          <p:nvPr/>
        </p:nvSpPr>
        <p:spPr>
          <a:xfrm>
            <a:off x="90013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D8567-73AF-0E9B-EE03-F95A088B7AEE}"/>
              </a:ext>
            </a:extLst>
          </p:cNvPr>
          <p:cNvSpPr txBox="1"/>
          <p:nvPr/>
        </p:nvSpPr>
        <p:spPr>
          <a:xfrm>
            <a:off x="12039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7364F2-9D50-1D9E-F1F0-989EF03BD31B}"/>
              </a:ext>
            </a:extLst>
          </p:cNvPr>
          <p:cNvSpPr txBox="1"/>
          <p:nvPr/>
        </p:nvSpPr>
        <p:spPr>
          <a:xfrm>
            <a:off x="53187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1DBFB9-DF48-8480-C72E-A39DDFF95F77}"/>
              </a:ext>
            </a:extLst>
          </p:cNvPr>
          <p:cNvSpPr txBox="1"/>
          <p:nvPr/>
        </p:nvSpPr>
        <p:spPr>
          <a:xfrm>
            <a:off x="32613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31B75-B866-2468-864E-7FB7B7670228}"/>
              </a:ext>
            </a:extLst>
          </p:cNvPr>
          <p:cNvSpPr txBox="1"/>
          <p:nvPr/>
        </p:nvSpPr>
        <p:spPr>
          <a:xfrm>
            <a:off x="73761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9CC0D3-B9B4-F4F1-6462-D9BBE34CCB3F}"/>
              </a:ext>
            </a:extLst>
          </p:cNvPr>
          <p:cNvSpPr txBox="1"/>
          <p:nvPr/>
        </p:nvSpPr>
        <p:spPr>
          <a:xfrm>
            <a:off x="94335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3D3A2D-E5EE-2400-B66B-C8F8EC744345}"/>
              </a:ext>
            </a:extLst>
          </p:cNvPr>
          <p:cNvSpPr/>
          <p:nvPr/>
        </p:nvSpPr>
        <p:spPr>
          <a:xfrm>
            <a:off x="1697082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Ask AI to do </a:t>
            </a:r>
            <a:r>
              <a:rPr lang="en-US" sz="1600" dirty="0">
                <a:solidFill>
                  <a:srgbClr val="FFC000"/>
                </a:solidFill>
              </a:rPr>
              <a:t>three</a:t>
            </a:r>
            <a:r>
              <a:rPr lang="en-US" sz="1600" dirty="0"/>
              <a:t> tasks</a:t>
            </a:r>
          </a:p>
          <a:p>
            <a:pPr algn="ctr"/>
            <a:r>
              <a:rPr lang="en-US" sz="1600" dirty="0"/>
              <a:t>(“prompt”)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478B70-5917-CCCB-4ECF-FF30F51B6A05}"/>
              </a:ext>
            </a:extLst>
          </p:cNvPr>
          <p:cNvSpPr/>
          <p:nvPr/>
        </p:nvSpPr>
        <p:spPr>
          <a:xfrm>
            <a:off x="3759381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AI </a:t>
            </a:r>
            <a:r>
              <a:rPr lang="en-US" sz="1600" i="1" dirty="0"/>
              <a:t>tries</a:t>
            </a:r>
            <a:r>
              <a:rPr lang="en-US" sz="1600" dirty="0"/>
              <a:t> to </a:t>
            </a:r>
          </a:p>
          <a:p>
            <a:pPr algn="ctr"/>
            <a:r>
              <a:rPr lang="en-US" sz="1600" dirty="0"/>
              <a:t>do </a:t>
            </a:r>
            <a:r>
              <a:rPr lang="en-US" sz="1600" dirty="0">
                <a:solidFill>
                  <a:srgbClr val="FFC000"/>
                </a:solidFill>
              </a:rPr>
              <a:t>three</a:t>
            </a:r>
            <a:r>
              <a:rPr lang="en-US" sz="1600" dirty="0"/>
              <a:t> tasks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989707E-C971-A6EE-C6CC-7A929D36928C}"/>
              </a:ext>
            </a:extLst>
          </p:cNvPr>
          <p:cNvSpPr/>
          <p:nvPr/>
        </p:nvSpPr>
        <p:spPr>
          <a:xfrm>
            <a:off x="5821680" y="4636008"/>
            <a:ext cx="1554480" cy="1071154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Evaluate if output is acceptable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884B34-4326-63F8-95C2-438BFD4E06A0}"/>
              </a:ext>
            </a:extLst>
          </p:cNvPr>
          <p:cNvSpPr/>
          <p:nvPr/>
        </p:nvSpPr>
        <p:spPr>
          <a:xfrm>
            <a:off x="8153400" y="4188823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7F27404-67B0-19D1-905D-0E0D3DF5E374}"/>
              </a:ext>
            </a:extLst>
          </p:cNvPr>
          <p:cNvSpPr/>
          <p:nvPr/>
        </p:nvSpPr>
        <p:spPr>
          <a:xfrm>
            <a:off x="8153400" y="5432842"/>
            <a:ext cx="937260" cy="548640"/>
          </a:xfrm>
          <a:prstGeom prst="roundRect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No</a:t>
            </a:r>
          </a:p>
        </p:txBody>
      </p:sp>
      <p:sp>
        <p:nvSpPr>
          <p:cNvPr id="15" name="Google Shape;197;p27">
            <a:extLst>
              <a:ext uri="{FF2B5EF4-FFF2-40B4-BE49-F238E27FC236}">
                <a16:creationId xmlns:a16="http://schemas.microsoft.com/office/drawing/2014/main" id="{7DEFEB29-7874-AB3A-938A-346FD86E50F1}"/>
              </a:ext>
            </a:extLst>
          </p:cNvPr>
          <p:cNvSpPr txBox="1"/>
          <p:nvPr/>
        </p:nvSpPr>
        <p:spPr>
          <a:xfrm>
            <a:off x="2263422" y="4188823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16" name="Google Shape;198;p27">
            <a:extLst>
              <a:ext uri="{FF2B5EF4-FFF2-40B4-BE49-F238E27FC236}">
                <a16:creationId xmlns:a16="http://schemas.microsoft.com/office/drawing/2014/main" id="{ECD50613-C8F3-0657-107E-07256B15DD03}"/>
              </a:ext>
            </a:extLst>
          </p:cNvPr>
          <p:cNvSpPr txBox="1"/>
          <p:nvPr/>
        </p:nvSpPr>
        <p:spPr>
          <a:xfrm>
            <a:off x="4325721" y="4186560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17" name="Google Shape;197;p27">
            <a:extLst>
              <a:ext uri="{FF2B5EF4-FFF2-40B4-BE49-F238E27FC236}">
                <a16:creationId xmlns:a16="http://schemas.microsoft.com/office/drawing/2014/main" id="{94536CB5-43AD-EEAF-3D1D-7F73EE50658F}"/>
              </a:ext>
            </a:extLst>
          </p:cNvPr>
          <p:cNvSpPr txBox="1"/>
          <p:nvPr/>
        </p:nvSpPr>
        <p:spPr>
          <a:xfrm>
            <a:off x="6388020" y="420490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cxnSp>
        <p:nvCxnSpPr>
          <p:cNvPr id="23" name="Curved Connector 22">
            <a:extLst>
              <a:ext uri="{FF2B5EF4-FFF2-40B4-BE49-F238E27FC236}">
                <a16:creationId xmlns:a16="http://schemas.microsoft.com/office/drawing/2014/main" id="{0390EF6C-2A68-0494-6E65-20B8EFD98E70}"/>
              </a:ext>
            </a:extLst>
          </p:cNvPr>
          <p:cNvCxnSpPr>
            <a:cxnSpLocks/>
            <a:stCxn id="36" idx="2"/>
            <a:endCxn id="10" idx="1"/>
          </p:cNvCxnSpPr>
          <p:nvPr/>
        </p:nvCxnSpPr>
        <p:spPr>
          <a:xfrm rot="5400000">
            <a:off x="1277548" y="3363902"/>
            <a:ext cx="2227217" cy="1388148"/>
          </a:xfrm>
          <a:prstGeom prst="curvedConnector4">
            <a:avLst>
              <a:gd name="adj1" fmla="val 37977"/>
              <a:gd name="adj2" fmla="val 11646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>
            <a:extLst>
              <a:ext uri="{FF2B5EF4-FFF2-40B4-BE49-F238E27FC236}">
                <a16:creationId xmlns:a16="http://schemas.microsoft.com/office/drawing/2014/main" id="{479459A1-7479-70FC-9854-38E894A50D7F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261360" y="5158873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urved Connector 44">
            <a:extLst>
              <a:ext uri="{FF2B5EF4-FFF2-40B4-BE49-F238E27FC236}">
                <a16:creationId xmlns:a16="http://schemas.microsoft.com/office/drawing/2014/main" id="{A2A79738-2F7A-86A0-4FED-DCE045943C64}"/>
              </a:ext>
            </a:extLst>
          </p:cNvPr>
          <p:cNvCxnSpPr>
            <a:cxnSpLocks/>
          </p:cNvCxnSpPr>
          <p:nvPr/>
        </p:nvCxnSpPr>
        <p:spPr>
          <a:xfrm>
            <a:off x="5323659" y="5146161"/>
            <a:ext cx="498021" cy="1271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urved Connector 45">
            <a:extLst>
              <a:ext uri="{FF2B5EF4-FFF2-40B4-BE49-F238E27FC236}">
                <a16:creationId xmlns:a16="http://schemas.microsoft.com/office/drawing/2014/main" id="{57989B5C-3A64-98CB-9822-57FDA93D0C18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376160" y="4463143"/>
            <a:ext cx="777240" cy="67030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828FA6AC-41BB-AB68-3423-546C1D1D4CC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374569" y="5142031"/>
            <a:ext cx="778831" cy="56513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urved Connector 53">
            <a:extLst>
              <a:ext uri="{FF2B5EF4-FFF2-40B4-BE49-F238E27FC236}">
                <a16:creationId xmlns:a16="http://schemas.microsoft.com/office/drawing/2014/main" id="{035DA092-BD49-093F-EDD8-16A5B346D833}"/>
              </a:ext>
            </a:extLst>
          </p:cNvPr>
          <p:cNvCxnSpPr>
            <a:cxnSpLocks/>
            <a:stCxn id="14" idx="2"/>
            <a:endCxn id="10" idx="2"/>
          </p:cNvCxnSpPr>
          <p:nvPr/>
        </p:nvCxnSpPr>
        <p:spPr>
          <a:xfrm rot="5400000" flipH="1">
            <a:off x="5411016" y="2770468"/>
            <a:ext cx="274320" cy="6147708"/>
          </a:xfrm>
          <a:prstGeom prst="curvedConnector3">
            <a:avLst>
              <a:gd name="adj1" fmla="val -22301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B3E75570-9AD6-5076-BE4E-1AB0023642AF}"/>
              </a:ext>
            </a:extLst>
          </p:cNvPr>
          <p:cNvCxnSpPr>
            <a:cxnSpLocks/>
            <a:stCxn id="13" idx="3"/>
            <a:endCxn id="39" idx="2"/>
          </p:cNvCxnSpPr>
          <p:nvPr/>
        </p:nvCxnSpPr>
        <p:spPr>
          <a:xfrm flipV="1">
            <a:off x="9090660" y="2944368"/>
            <a:ext cx="166770" cy="151877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A1EA47-AAB8-6D9E-98A8-97974BA40DD9}"/>
              </a:ext>
            </a:extLst>
          </p:cNvPr>
          <p:cNvSpPr txBox="1"/>
          <p:nvPr/>
        </p:nvSpPr>
        <p:spPr>
          <a:xfrm>
            <a:off x="7481499" y="557724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1-P</a:t>
            </a:r>
            <a:r>
              <a:rPr lang="en-US" sz="1200" baseline="30000" dirty="0"/>
              <a:t>’’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C4AF5B-A390-BEBA-4BDA-0FD05CA0A6EE}"/>
              </a:ext>
            </a:extLst>
          </p:cNvPr>
          <p:cNvSpPr txBox="1"/>
          <p:nvPr/>
        </p:nvSpPr>
        <p:spPr>
          <a:xfrm>
            <a:off x="7568946" y="4342924"/>
            <a:ext cx="6678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</a:t>
            </a:r>
            <a:r>
              <a:rPr lang="en-US" sz="1200" baseline="30000" dirty="0"/>
              <a:t>’’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782743-20D2-2462-8978-29907F5CECAA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also helps workers by </a:t>
            </a:r>
            <a:r>
              <a:rPr lang="en-US" sz="2800" b="1" u="sng" dirty="0"/>
              <a:t>automating</a:t>
            </a:r>
            <a:r>
              <a:rPr lang="en-US" sz="2800" dirty="0"/>
              <a:t> tasks.</a:t>
            </a:r>
          </a:p>
        </p:txBody>
      </p:sp>
      <p:sp>
        <p:nvSpPr>
          <p:cNvPr id="25" name="Google Shape;198;p27">
            <a:extLst>
              <a:ext uri="{FF2B5EF4-FFF2-40B4-BE49-F238E27FC236}">
                <a16:creationId xmlns:a16="http://schemas.microsoft.com/office/drawing/2014/main" id="{DD7027EE-70B6-652B-B9D3-B9CE8E626D10}"/>
              </a:ext>
            </a:extLst>
          </p:cNvPr>
          <p:cNvSpPr txBox="1"/>
          <p:nvPr/>
        </p:nvSpPr>
        <p:spPr>
          <a:xfrm>
            <a:off x="7700214" y="1855150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3" name="Google Shape;198;p27">
            <a:extLst>
              <a:ext uri="{FF2B5EF4-FFF2-40B4-BE49-F238E27FC236}">
                <a16:creationId xmlns:a16="http://schemas.microsoft.com/office/drawing/2014/main" id="{9C4D96A2-52B8-B0BB-94C3-CFAA5C5E6081}"/>
              </a:ext>
            </a:extLst>
          </p:cNvPr>
          <p:cNvSpPr txBox="1"/>
          <p:nvPr/>
        </p:nvSpPr>
        <p:spPr>
          <a:xfrm>
            <a:off x="5884768" y="1967855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0" name="Google Shape;198;p27">
            <a:extLst>
              <a:ext uri="{FF2B5EF4-FFF2-40B4-BE49-F238E27FC236}">
                <a16:creationId xmlns:a16="http://schemas.microsoft.com/office/drawing/2014/main" id="{7516B684-C121-EAFA-1886-7832E7D9D70E}"/>
              </a:ext>
            </a:extLst>
          </p:cNvPr>
          <p:cNvSpPr txBox="1"/>
          <p:nvPr/>
        </p:nvSpPr>
        <p:spPr>
          <a:xfrm>
            <a:off x="3831555" y="1967855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6" name="Google Shape;197;p27">
            <a:extLst>
              <a:ext uri="{FF2B5EF4-FFF2-40B4-BE49-F238E27FC236}">
                <a16:creationId xmlns:a16="http://schemas.microsoft.com/office/drawing/2014/main" id="{A0E3EBE7-A005-C89C-CAD2-8152010C2257}"/>
              </a:ext>
            </a:extLst>
          </p:cNvPr>
          <p:cNvSpPr txBox="1"/>
          <p:nvPr/>
        </p:nvSpPr>
        <p:spPr>
          <a:xfrm>
            <a:off x="1625394" y="171174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29" name="Google Shape;197;p27">
            <a:extLst>
              <a:ext uri="{FF2B5EF4-FFF2-40B4-BE49-F238E27FC236}">
                <a16:creationId xmlns:a16="http://schemas.microsoft.com/office/drawing/2014/main" id="{38304525-CF57-3273-A03D-53AFC9869626}"/>
              </a:ext>
            </a:extLst>
          </p:cNvPr>
          <p:cNvSpPr txBox="1"/>
          <p:nvPr/>
        </p:nvSpPr>
        <p:spPr>
          <a:xfrm>
            <a:off x="9856432" y="167153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911464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A3CA3-49B3-FC94-F23E-04993252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73E1D-C2FC-6D1D-EFD2-A9760E94108A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Effective Reduction in Human Tasks</a:t>
            </a:r>
            <a:endParaRPr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C667E50-0315-5DE7-3BF1-F2CB5A25C5A7}"/>
              </a:ext>
            </a:extLst>
          </p:cNvPr>
          <p:cNvSpPr/>
          <p:nvPr/>
        </p:nvSpPr>
        <p:spPr>
          <a:xfrm>
            <a:off x="12061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FD2A3-AB22-47B4-701E-1696CCC9432B}"/>
              </a:ext>
            </a:extLst>
          </p:cNvPr>
          <p:cNvSpPr txBox="1"/>
          <p:nvPr/>
        </p:nvSpPr>
        <p:spPr>
          <a:xfrm>
            <a:off x="12061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1538FD-02FD-853B-D296-E980AD45DE47}"/>
              </a:ext>
            </a:extLst>
          </p:cNvPr>
          <p:cNvSpPr/>
          <p:nvPr/>
        </p:nvSpPr>
        <p:spPr>
          <a:xfrm>
            <a:off x="32635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79E2E-4497-5837-E70C-BCE6BBB8FA5A}"/>
              </a:ext>
            </a:extLst>
          </p:cNvPr>
          <p:cNvSpPr txBox="1"/>
          <p:nvPr/>
        </p:nvSpPr>
        <p:spPr>
          <a:xfrm>
            <a:off x="32635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C341CF-EEFD-87A1-7A68-38FEAF99D318}"/>
              </a:ext>
            </a:extLst>
          </p:cNvPr>
          <p:cNvSpPr/>
          <p:nvPr/>
        </p:nvSpPr>
        <p:spPr>
          <a:xfrm>
            <a:off x="53209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75D3BD-2583-515C-B02D-EBBFBD1B0855}"/>
              </a:ext>
            </a:extLst>
          </p:cNvPr>
          <p:cNvSpPr txBox="1"/>
          <p:nvPr/>
        </p:nvSpPr>
        <p:spPr>
          <a:xfrm>
            <a:off x="53209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86945F2-35AF-217C-1C1C-20E5F6AC06E6}"/>
              </a:ext>
            </a:extLst>
          </p:cNvPr>
          <p:cNvSpPr/>
          <p:nvPr/>
        </p:nvSpPr>
        <p:spPr>
          <a:xfrm>
            <a:off x="73783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295880-FD0D-FC6D-2207-87B2A3136FDA}"/>
              </a:ext>
            </a:extLst>
          </p:cNvPr>
          <p:cNvSpPr txBox="1"/>
          <p:nvPr/>
        </p:nvSpPr>
        <p:spPr>
          <a:xfrm>
            <a:off x="73783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2355D0F-C354-9C3C-ADBC-5745A0FEAD64}"/>
              </a:ext>
            </a:extLst>
          </p:cNvPr>
          <p:cNvSpPr/>
          <p:nvPr/>
        </p:nvSpPr>
        <p:spPr>
          <a:xfrm>
            <a:off x="9435738" y="2377440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93C8EB-C47A-FF00-0DFA-244D66A180AB}"/>
              </a:ext>
            </a:extLst>
          </p:cNvPr>
          <p:cNvSpPr txBox="1"/>
          <p:nvPr/>
        </p:nvSpPr>
        <p:spPr>
          <a:xfrm>
            <a:off x="9435738" y="2377440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DB83F1C7-7A36-370B-3DB6-74BBCC96C0D7}"/>
              </a:ext>
            </a:extLst>
          </p:cNvPr>
          <p:cNvSpPr/>
          <p:nvPr/>
        </p:nvSpPr>
        <p:spPr>
          <a:xfrm>
            <a:off x="28291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C49CD55E-E595-C644-9AE0-AC565E35D311}"/>
              </a:ext>
            </a:extLst>
          </p:cNvPr>
          <p:cNvSpPr/>
          <p:nvPr/>
        </p:nvSpPr>
        <p:spPr>
          <a:xfrm>
            <a:off x="48865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BE65F412-A807-0F49-650F-E758B1B0CCE9}"/>
              </a:ext>
            </a:extLst>
          </p:cNvPr>
          <p:cNvSpPr/>
          <p:nvPr/>
        </p:nvSpPr>
        <p:spPr>
          <a:xfrm>
            <a:off x="69439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70871274-603B-26DC-A31E-3272DFA7F7B0}"/>
              </a:ext>
            </a:extLst>
          </p:cNvPr>
          <p:cNvSpPr/>
          <p:nvPr/>
        </p:nvSpPr>
        <p:spPr>
          <a:xfrm>
            <a:off x="9001398" y="2724912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DC75FA-EB1D-AB0B-B2BD-2DFBB32BB2D2}"/>
              </a:ext>
            </a:extLst>
          </p:cNvPr>
          <p:cNvSpPr txBox="1"/>
          <p:nvPr/>
        </p:nvSpPr>
        <p:spPr>
          <a:xfrm>
            <a:off x="12039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E6B0F1-9E10-F8AA-9523-9D78FE6D2E27}"/>
              </a:ext>
            </a:extLst>
          </p:cNvPr>
          <p:cNvSpPr txBox="1"/>
          <p:nvPr/>
        </p:nvSpPr>
        <p:spPr>
          <a:xfrm>
            <a:off x="53187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dirty="0"/>
              <a:t>Manual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EFA78D-7DEB-D906-ACCA-3C750EA5788E}"/>
              </a:ext>
            </a:extLst>
          </p:cNvPr>
          <p:cNvSpPr txBox="1"/>
          <p:nvPr/>
        </p:nvSpPr>
        <p:spPr>
          <a:xfrm>
            <a:off x="32613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AA4FC9-9F0C-53CD-19D2-79EAD0EA80D9}"/>
              </a:ext>
            </a:extLst>
          </p:cNvPr>
          <p:cNvSpPr txBox="1"/>
          <p:nvPr/>
        </p:nvSpPr>
        <p:spPr>
          <a:xfrm>
            <a:off x="73761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357A3F-472F-2107-A3FC-3806C8B5A4D6}"/>
              </a:ext>
            </a:extLst>
          </p:cNvPr>
          <p:cNvSpPr txBox="1"/>
          <p:nvPr/>
        </p:nvSpPr>
        <p:spPr>
          <a:xfrm>
            <a:off x="9433560" y="333756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C60947E-261B-0648-284B-23249781B92E}"/>
              </a:ext>
            </a:extLst>
          </p:cNvPr>
          <p:cNvSpPr/>
          <p:nvPr/>
        </p:nvSpPr>
        <p:spPr>
          <a:xfrm>
            <a:off x="12061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6C16BB-A553-4182-7B41-4BBAF92EDD60}"/>
              </a:ext>
            </a:extLst>
          </p:cNvPr>
          <p:cNvSpPr txBox="1"/>
          <p:nvPr/>
        </p:nvSpPr>
        <p:spPr>
          <a:xfrm>
            <a:off x="12061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9EA4062-6FE1-F1B6-3B14-B13FCD1D5FD2}"/>
              </a:ext>
            </a:extLst>
          </p:cNvPr>
          <p:cNvSpPr/>
          <p:nvPr/>
        </p:nvSpPr>
        <p:spPr>
          <a:xfrm>
            <a:off x="32635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0476997-E4EF-6883-F05D-641EB5222941}"/>
              </a:ext>
            </a:extLst>
          </p:cNvPr>
          <p:cNvSpPr/>
          <p:nvPr/>
        </p:nvSpPr>
        <p:spPr>
          <a:xfrm>
            <a:off x="53209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3F0C6D6-F419-8EC1-D1D0-C1AB0A54B99B}"/>
              </a:ext>
            </a:extLst>
          </p:cNvPr>
          <p:cNvSpPr txBox="1"/>
          <p:nvPr/>
        </p:nvSpPr>
        <p:spPr>
          <a:xfrm>
            <a:off x="5320938" y="4918621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476804F-BF39-0FCF-9BDD-4D0673625A96}"/>
              </a:ext>
            </a:extLst>
          </p:cNvPr>
          <p:cNvSpPr/>
          <p:nvPr/>
        </p:nvSpPr>
        <p:spPr>
          <a:xfrm>
            <a:off x="7378338" y="4918621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8F258-24C9-0BD6-8686-EBA5805CF3CA}"/>
              </a:ext>
            </a:extLst>
          </p:cNvPr>
          <p:cNvSpPr txBox="1"/>
          <p:nvPr/>
        </p:nvSpPr>
        <p:spPr>
          <a:xfrm>
            <a:off x="73783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51F08EE-8552-0865-D7FD-D88EBCD5E5F4}"/>
              </a:ext>
            </a:extLst>
          </p:cNvPr>
          <p:cNvSpPr/>
          <p:nvPr/>
        </p:nvSpPr>
        <p:spPr>
          <a:xfrm>
            <a:off x="94357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CCA0E6-4EAB-BA82-C47E-C39437FA2804}"/>
              </a:ext>
            </a:extLst>
          </p:cNvPr>
          <p:cNvSpPr txBox="1"/>
          <p:nvPr/>
        </p:nvSpPr>
        <p:spPr>
          <a:xfrm>
            <a:off x="94357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37" name="Right Arrow 36">
            <a:extLst>
              <a:ext uri="{FF2B5EF4-FFF2-40B4-BE49-F238E27FC236}">
                <a16:creationId xmlns:a16="http://schemas.microsoft.com/office/drawing/2014/main" id="{4F4DD33D-571E-60D1-C67D-3D47ED1B5C9B}"/>
              </a:ext>
            </a:extLst>
          </p:cNvPr>
          <p:cNvSpPr/>
          <p:nvPr/>
        </p:nvSpPr>
        <p:spPr>
          <a:xfrm>
            <a:off x="28291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ight Arrow 37">
            <a:extLst>
              <a:ext uri="{FF2B5EF4-FFF2-40B4-BE49-F238E27FC236}">
                <a16:creationId xmlns:a16="http://schemas.microsoft.com/office/drawing/2014/main" id="{1378ACCF-AF23-6117-598D-09F29EA446FA}"/>
              </a:ext>
            </a:extLst>
          </p:cNvPr>
          <p:cNvSpPr/>
          <p:nvPr/>
        </p:nvSpPr>
        <p:spPr>
          <a:xfrm>
            <a:off x="48865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78B8F36C-0B31-7BD3-11B3-32CD986A0808}"/>
              </a:ext>
            </a:extLst>
          </p:cNvPr>
          <p:cNvSpPr/>
          <p:nvPr/>
        </p:nvSpPr>
        <p:spPr>
          <a:xfrm>
            <a:off x="69439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2C118C5E-EA9D-AFAC-636F-F8C8AAC13619}"/>
              </a:ext>
            </a:extLst>
          </p:cNvPr>
          <p:cNvSpPr/>
          <p:nvPr/>
        </p:nvSpPr>
        <p:spPr>
          <a:xfrm>
            <a:off x="90013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301F95-5A54-9213-5521-200FA4FC69FD}"/>
              </a:ext>
            </a:extLst>
          </p:cNvPr>
          <p:cNvSpPr txBox="1"/>
          <p:nvPr/>
        </p:nvSpPr>
        <p:spPr>
          <a:xfrm>
            <a:off x="12039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CCB5173-05B1-0F65-C80F-23B0BC55A97A}"/>
              </a:ext>
            </a:extLst>
          </p:cNvPr>
          <p:cNvSpPr txBox="1"/>
          <p:nvPr/>
        </p:nvSpPr>
        <p:spPr>
          <a:xfrm>
            <a:off x="53187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  <a:endParaRPr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2E4B14-9CD9-C87A-4E50-A86696310514}"/>
              </a:ext>
            </a:extLst>
          </p:cNvPr>
          <p:cNvSpPr txBox="1"/>
          <p:nvPr/>
        </p:nvSpPr>
        <p:spPr>
          <a:xfrm>
            <a:off x="32613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5CC6DC-8722-C8DE-164F-0012A2E194D2}"/>
              </a:ext>
            </a:extLst>
          </p:cNvPr>
          <p:cNvSpPr txBox="1"/>
          <p:nvPr/>
        </p:nvSpPr>
        <p:spPr>
          <a:xfrm>
            <a:off x="73761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C2C324-5E74-4497-CB8D-5F2240867A68}"/>
              </a:ext>
            </a:extLst>
          </p:cNvPr>
          <p:cNvSpPr txBox="1"/>
          <p:nvPr/>
        </p:nvSpPr>
        <p:spPr>
          <a:xfrm>
            <a:off x="94335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46" name="Google Shape;198;p27">
            <a:extLst>
              <a:ext uri="{FF2B5EF4-FFF2-40B4-BE49-F238E27FC236}">
                <a16:creationId xmlns:a16="http://schemas.microsoft.com/office/drawing/2014/main" id="{EFD1ABFD-E925-1585-FC8A-690FE7663444}"/>
              </a:ext>
            </a:extLst>
          </p:cNvPr>
          <p:cNvSpPr txBox="1"/>
          <p:nvPr/>
        </p:nvSpPr>
        <p:spPr>
          <a:xfrm>
            <a:off x="7700214" y="4396331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71" name="Google Shape;198;p27">
            <a:extLst>
              <a:ext uri="{FF2B5EF4-FFF2-40B4-BE49-F238E27FC236}">
                <a16:creationId xmlns:a16="http://schemas.microsoft.com/office/drawing/2014/main" id="{A1B10972-E5E7-780D-7ACA-C31D3EE12154}"/>
              </a:ext>
            </a:extLst>
          </p:cNvPr>
          <p:cNvSpPr txBox="1"/>
          <p:nvPr/>
        </p:nvSpPr>
        <p:spPr>
          <a:xfrm>
            <a:off x="5884768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72" name="Google Shape;198;p27">
            <a:extLst>
              <a:ext uri="{FF2B5EF4-FFF2-40B4-BE49-F238E27FC236}">
                <a16:creationId xmlns:a16="http://schemas.microsoft.com/office/drawing/2014/main" id="{B47F87EA-35AB-CCB6-6C43-D9D148F78D5F}"/>
              </a:ext>
            </a:extLst>
          </p:cNvPr>
          <p:cNvSpPr txBox="1"/>
          <p:nvPr/>
        </p:nvSpPr>
        <p:spPr>
          <a:xfrm>
            <a:off x="3831555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8AB4512-3BC2-B325-CCE5-799667BE0621}"/>
              </a:ext>
            </a:extLst>
          </p:cNvPr>
          <p:cNvSpPr txBox="1"/>
          <p:nvPr/>
        </p:nvSpPr>
        <p:spPr>
          <a:xfrm>
            <a:off x="731520" y="1148316"/>
            <a:ext cx="10698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Went from 5 human tasks to 3 human tasks.</a:t>
            </a:r>
          </a:p>
        </p:txBody>
      </p:sp>
      <p:sp>
        <p:nvSpPr>
          <p:cNvPr id="74" name="Google Shape;197;p27">
            <a:extLst>
              <a:ext uri="{FF2B5EF4-FFF2-40B4-BE49-F238E27FC236}">
                <a16:creationId xmlns:a16="http://schemas.microsoft.com/office/drawing/2014/main" id="{C6EB4FF8-1C20-E47D-042A-D39E8086018D}"/>
              </a:ext>
            </a:extLst>
          </p:cNvPr>
          <p:cNvSpPr txBox="1"/>
          <p:nvPr/>
        </p:nvSpPr>
        <p:spPr>
          <a:xfrm>
            <a:off x="1625394" y="171174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75" name="Google Shape;197;p27">
            <a:extLst>
              <a:ext uri="{FF2B5EF4-FFF2-40B4-BE49-F238E27FC236}">
                <a16:creationId xmlns:a16="http://schemas.microsoft.com/office/drawing/2014/main" id="{34667ACC-D866-5C3E-B876-6BC9222F202B}"/>
              </a:ext>
            </a:extLst>
          </p:cNvPr>
          <p:cNvSpPr txBox="1"/>
          <p:nvPr/>
        </p:nvSpPr>
        <p:spPr>
          <a:xfrm>
            <a:off x="3682794" y="168281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76" name="Google Shape;197;p27">
            <a:extLst>
              <a:ext uri="{FF2B5EF4-FFF2-40B4-BE49-F238E27FC236}">
                <a16:creationId xmlns:a16="http://schemas.microsoft.com/office/drawing/2014/main" id="{DF585CC7-FD63-4AED-60AE-2A04387A79D1}"/>
              </a:ext>
            </a:extLst>
          </p:cNvPr>
          <p:cNvSpPr txBox="1"/>
          <p:nvPr/>
        </p:nvSpPr>
        <p:spPr>
          <a:xfrm>
            <a:off x="5740194" y="1671536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77" name="Google Shape;197;p27">
            <a:extLst>
              <a:ext uri="{FF2B5EF4-FFF2-40B4-BE49-F238E27FC236}">
                <a16:creationId xmlns:a16="http://schemas.microsoft.com/office/drawing/2014/main" id="{0137FEB5-B757-4B2B-1678-0E829D93CC22}"/>
              </a:ext>
            </a:extLst>
          </p:cNvPr>
          <p:cNvSpPr txBox="1"/>
          <p:nvPr/>
        </p:nvSpPr>
        <p:spPr>
          <a:xfrm>
            <a:off x="7799032" y="1671535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78" name="Google Shape;197;p27">
            <a:extLst>
              <a:ext uri="{FF2B5EF4-FFF2-40B4-BE49-F238E27FC236}">
                <a16:creationId xmlns:a16="http://schemas.microsoft.com/office/drawing/2014/main" id="{6DE6549D-DE59-1BF9-89CD-DFCC271F4643}"/>
              </a:ext>
            </a:extLst>
          </p:cNvPr>
          <p:cNvSpPr txBox="1"/>
          <p:nvPr/>
        </p:nvSpPr>
        <p:spPr>
          <a:xfrm>
            <a:off x="9856432" y="1671534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DB94CDEA-54C5-F9C7-3A45-E86D3C7C7A68}"/>
              </a:ext>
            </a:extLst>
          </p:cNvPr>
          <p:cNvSpPr txBox="1"/>
          <p:nvPr/>
        </p:nvSpPr>
        <p:spPr>
          <a:xfrm>
            <a:off x="9856432" y="4219613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10096636-109F-9A26-E0DA-3314288C1FCB}"/>
              </a:ext>
            </a:extLst>
          </p:cNvPr>
          <p:cNvSpPr txBox="1"/>
          <p:nvPr/>
        </p:nvSpPr>
        <p:spPr>
          <a:xfrm>
            <a:off x="1643064" y="4219612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4E26-1256-00E4-0F14-C90BBDCEE2DA}"/>
              </a:ext>
            </a:extLst>
          </p:cNvPr>
          <p:cNvSpPr/>
          <p:nvPr/>
        </p:nvSpPr>
        <p:spPr>
          <a:xfrm>
            <a:off x="2969546" y="4515468"/>
            <a:ext cx="6236208" cy="1715210"/>
          </a:xfrm>
          <a:prstGeom prst="rect">
            <a:avLst/>
          </a:prstGeom>
          <a:noFill/>
          <a:ln w="31750">
            <a:solidFill>
              <a:srgbClr val="0096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7554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0FAC3-0263-0EEB-1237-44B02D13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6AB7C3-7A07-3D12-4BA5-CE4D93CBF7BA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AI Chaining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06A52-BEAE-7DB6-CDE3-726F76887329}"/>
              </a:ext>
            </a:extLst>
          </p:cNvPr>
          <p:cNvSpPr txBox="1"/>
          <p:nvPr/>
        </p:nvSpPr>
        <p:spPr>
          <a:xfrm>
            <a:off x="731520" y="1148316"/>
            <a:ext cx="1069848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AI “chains” tasks: bundle contiguous tasks and execute them at once.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Only the last step of AI chain evaluated by human.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Upside: Saves human execution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Downside: Adding more tasks lowers probability of AI’s success.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571F608-68B0-6E45-1F47-5CF3243EFB02}"/>
              </a:ext>
            </a:extLst>
          </p:cNvPr>
          <p:cNvSpPr/>
          <p:nvPr/>
        </p:nvSpPr>
        <p:spPr>
          <a:xfrm>
            <a:off x="2969546" y="4515468"/>
            <a:ext cx="6236208" cy="1715210"/>
          </a:xfrm>
          <a:prstGeom prst="rect">
            <a:avLst/>
          </a:prstGeom>
          <a:noFill/>
          <a:ln w="31750">
            <a:solidFill>
              <a:srgbClr val="0096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F20B71E-29CE-E0B5-A45C-83D39AF08FAC}"/>
              </a:ext>
            </a:extLst>
          </p:cNvPr>
          <p:cNvSpPr txBox="1"/>
          <p:nvPr/>
        </p:nvSpPr>
        <p:spPr>
          <a:xfrm>
            <a:off x="5318760" y="3864692"/>
            <a:ext cx="1554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AI Chain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4248DAF-755C-4DBC-8F71-49979B0814BD}"/>
              </a:ext>
            </a:extLst>
          </p:cNvPr>
          <p:cNvSpPr/>
          <p:nvPr/>
        </p:nvSpPr>
        <p:spPr>
          <a:xfrm>
            <a:off x="12061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51216-A243-A035-FC3A-38153D1E3C7B}"/>
              </a:ext>
            </a:extLst>
          </p:cNvPr>
          <p:cNvSpPr txBox="1"/>
          <p:nvPr/>
        </p:nvSpPr>
        <p:spPr>
          <a:xfrm>
            <a:off x="12061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0E29919-2B08-7741-C756-720ABA7271B7}"/>
              </a:ext>
            </a:extLst>
          </p:cNvPr>
          <p:cNvSpPr/>
          <p:nvPr/>
        </p:nvSpPr>
        <p:spPr>
          <a:xfrm>
            <a:off x="32635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10422F-9D8B-73F0-05EF-78CB8980CC85}"/>
              </a:ext>
            </a:extLst>
          </p:cNvPr>
          <p:cNvSpPr/>
          <p:nvPr/>
        </p:nvSpPr>
        <p:spPr>
          <a:xfrm>
            <a:off x="53209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8199A-6EA3-B775-CC25-C2DDC51E614C}"/>
              </a:ext>
            </a:extLst>
          </p:cNvPr>
          <p:cNvSpPr txBox="1"/>
          <p:nvPr/>
        </p:nvSpPr>
        <p:spPr>
          <a:xfrm>
            <a:off x="5320938" y="4918621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EE9986-7625-9456-E53E-FAA123C24FE9}"/>
              </a:ext>
            </a:extLst>
          </p:cNvPr>
          <p:cNvSpPr/>
          <p:nvPr/>
        </p:nvSpPr>
        <p:spPr>
          <a:xfrm>
            <a:off x="7378338" y="4918621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E9A931-3385-EEA5-0483-E0F776321965}"/>
              </a:ext>
            </a:extLst>
          </p:cNvPr>
          <p:cNvSpPr txBox="1"/>
          <p:nvPr/>
        </p:nvSpPr>
        <p:spPr>
          <a:xfrm>
            <a:off x="73783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941A917-7906-0617-E2C0-53D846474F6F}"/>
              </a:ext>
            </a:extLst>
          </p:cNvPr>
          <p:cNvSpPr/>
          <p:nvPr/>
        </p:nvSpPr>
        <p:spPr>
          <a:xfrm>
            <a:off x="94357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352670-2F2C-6899-12FC-61AAD8EE0844}"/>
              </a:ext>
            </a:extLst>
          </p:cNvPr>
          <p:cNvSpPr txBox="1"/>
          <p:nvPr/>
        </p:nvSpPr>
        <p:spPr>
          <a:xfrm>
            <a:off x="94357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0F372DF9-112C-293F-330E-03CE6E51D4F0}"/>
              </a:ext>
            </a:extLst>
          </p:cNvPr>
          <p:cNvSpPr/>
          <p:nvPr/>
        </p:nvSpPr>
        <p:spPr>
          <a:xfrm>
            <a:off x="28291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A1E572A5-9DC9-380A-3505-DBC2BD421F76}"/>
              </a:ext>
            </a:extLst>
          </p:cNvPr>
          <p:cNvSpPr/>
          <p:nvPr/>
        </p:nvSpPr>
        <p:spPr>
          <a:xfrm>
            <a:off x="48865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D9AC78D2-12BB-0F25-66A3-6A6895083150}"/>
              </a:ext>
            </a:extLst>
          </p:cNvPr>
          <p:cNvSpPr/>
          <p:nvPr/>
        </p:nvSpPr>
        <p:spPr>
          <a:xfrm>
            <a:off x="69439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05E553FB-27DA-3743-9784-44C53A7E71CD}"/>
              </a:ext>
            </a:extLst>
          </p:cNvPr>
          <p:cNvSpPr/>
          <p:nvPr/>
        </p:nvSpPr>
        <p:spPr>
          <a:xfrm>
            <a:off x="90013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6A7EC-E858-B7C1-DDB1-7EF2C47095A1}"/>
              </a:ext>
            </a:extLst>
          </p:cNvPr>
          <p:cNvSpPr txBox="1"/>
          <p:nvPr/>
        </p:nvSpPr>
        <p:spPr>
          <a:xfrm>
            <a:off x="12039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535E71-47BF-5154-1082-53466F4C164B}"/>
              </a:ext>
            </a:extLst>
          </p:cNvPr>
          <p:cNvSpPr txBox="1"/>
          <p:nvPr/>
        </p:nvSpPr>
        <p:spPr>
          <a:xfrm>
            <a:off x="53187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341C2-9454-CF01-026E-F860F10B9695}"/>
              </a:ext>
            </a:extLst>
          </p:cNvPr>
          <p:cNvSpPr txBox="1"/>
          <p:nvPr/>
        </p:nvSpPr>
        <p:spPr>
          <a:xfrm>
            <a:off x="32613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5868F-2D29-CE9F-B56D-A7357AE8B266}"/>
              </a:ext>
            </a:extLst>
          </p:cNvPr>
          <p:cNvSpPr txBox="1"/>
          <p:nvPr/>
        </p:nvSpPr>
        <p:spPr>
          <a:xfrm>
            <a:off x="73761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C75167-D88B-4414-34E0-26C24A5CB333}"/>
              </a:ext>
            </a:extLst>
          </p:cNvPr>
          <p:cNvSpPr txBox="1"/>
          <p:nvPr/>
        </p:nvSpPr>
        <p:spPr>
          <a:xfrm>
            <a:off x="94335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22" name="Google Shape;198;p27">
            <a:extLst>
              <a:ext uri="{FF2B5EF4-FFF2-40B4-BE49-F238E27FC236}">
                <a16:creationId xmlns:a16="http://schemas.microsoft.com/office/drawing/2014/main" id="{BF3625B0-3AD1-34A4-4DE9-04FCEAA64F43}"/>
              </a:ext>
            </a:extLst>
          </p:cNvPr>
          <p:cNvSpPr txBox="1"/>
          <p:nvPr/>
        </p:nvSpPr>
        <p:spPr>
          <a:xfrm>
            <a:off x="7700214" y="4396331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5" name="Google Shape;198;p27">
            <a:extLst>
              <a:ext uri="{FF2B5EF4-FFF2-40B4-BE49-F238E27FC236}">
                <a16:creationId xmlns:a16="http://schemas.microsoft.com/office/drawing/2014/main" id="{3A507AB8-81EF-371E-B6E5-682D85612CE6}"/>
              </a:ext>
            </a:extLst>
          </p:cNvPr>
          <p:cNvSpPr txBox="1"/>
          <p:nvPr/>
        </p:nvSpPr>
        <p:spPr>
          <a:xfrm>
            <a:off x="5884768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6" name="Google Shape;198;p27">
            <a:extLst>
              <a:ext uri="{FF2B5EF4-FFF2-40B4-BE49-F238E27FC236}">
                <a16:creationId xmlns:a16="http://schemas.microsoft.com/office/drawing/2014/main" id="{3CCECB6C-47F8-98ED-C988-29E4224CD9B1}"/>
              </a:ext>
            </a:extLst>
          </p:cNvPr>
          <p:cNvSpPr txBox="1"/>
          <p:nvPr/>
        </p:nvSpPr>
        <p:spPr>
          <a:xfrm>
            <a:off x="3831555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7" name="Google Shape;197;p27">
            <a:extLst>
              <a:ext uri="{FF2B5EF4-FFF2-40B4-BE49-F238E27FC236}">
                <a16:creationId xmlns:a16="http://schemas.microsoft.com/office/drawing/2014/main" id="{A0ADF504-0449-7271-CDB6-F7B2C4E1AEB4}"/>
              </a:ext>
            </a:extLst>
          </p:cNvPr>
          <p:cNvSpPr txBox="1"/>
          <p:nvPr/>
        </p:nvSpPr>
        <p:spPr>
          <a:xfrm>
            <a:off x="9856432" y="4219613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28" name="Google Shape;197;p27">
            <a:extLst>
              <a:ext uri="{FF2B5EF4-FFF2-40B4-BE49-F238E27FC236}">
                <a16:creationId xmlns:a16="http://schemas.microsoft.com/office/drawing/2014/main" id="{0FFF3522-B62D-AA5A-5D1D-479ADBA47826}"/>
              </a:ext>
            </a:extLst>
          </p:cNvPr>
          <p:cNvSpPr txBox="1"/>
          <p:nvPr/>
        </p:nvSpPr>
        <p:spPr>
          <a:xfrm>
            <a:off x="1643064" y="4219612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1704380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F33B-93B0-DAAC-0A1C-7F13935F9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0DB9C1-EC3E-7BC2-D9A4-C4A0929458C8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Firm’s Problem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6BDEF-F099-C464-29EE-A764F8ECFEDC}"/>
              </a:ext>
            </a:extLst>
          </p:cNvPr>
          <p:cNvSpPr txBox="1"/>
          <p:nvPr/>
        </p:nvSpPr>
        <p:spPr>
          <a:xfrm>
            <a:off x="731519" y="1148316"/>
            <a:ext cx="111663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Decide which tasks to assign to human and which to AI to minimize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Three modes of task execution: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Manual</a:t>
            </a:r>
            <a:r>
              <a:rPr lang="en-US" sz="2400" dirty="0"/>
              <a:t>: human performs without AI’s help,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AI augmented</a:t>
            </a:r>
            <a:r>
              <a:rPr lang="en-US" sz="2400" dirty="0"/>
              <a:t>: AI performs and human validates output,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AI automated</a:t>
            </a:r>
            <a:r>
              <a:rPr lang="en-US" sz="2400" dirty="0"/>
              <a:t>: AI performs </a:t>
            </a:r>
            <a:r>
              <a:rPr lang="en-US" sz="2400" u="sng" dirty="0"/>
              <a:t>without direct human intervention</a:t>
            </a:r>
            <a:r>
              <a:rPr lang="en-US" sz="2400" dirty="0"/>
              <a:t>.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A0E4DE7-8712-C31A-F2E3-26F2E0CCF560}"/>
              </a:ext>
            </a:extLst>
          </p:cNvPr>
          <p:cNvSpPr/>
          <p:nvPr/>
        </p:nvSpPr>
        <p:spPr>
          <a:xfrm>
            <a:off x="2969546" y="4515468"/>
            <a:ext cx="6236208" cy="1715210"/>
          </a:xfrm>
          <a:prstGeom prst="rect">
            <a:avLst/>
          </a:prstGeom>
          <a:noFill/>
          <a:ln w="31750">
            <a:solidFill>
              <a:srgbClr val="0096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BC3A4EA-223D-F05F-0192-ABDC7799DB82}"/>
              </a:ext>
            </a:extLst>
          </p:cNvPr>
          <p:cNvSpPr txBox="1"/>
          <p:nvPr/>
        </p:nvSpPr>
        <p:spPr>
          <a:xfrm>
            <a:off x="5318760" y="3864692"/>
            <a:ext cx="1554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tx2"/>
                </a:solidFill>
              </a:rPr>
              <a:t>AI Chain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185F523-11A3-0AE4-0397-E779C07DD622}"/>
              </a:ext>
            </a:extLst>
          </p:cNvPr>
          <p:cNvSpPr/>
          <p:nvPr/>
        </p:nvSpPr>
        <p:spPr>
          <a:xfrm>
            <a:off x="12061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88FA0-2FCD-7E9F-CC26-D36DA708395A}"/>
              </a:ext>
            </a:extLst>
          </p:cNvPr>
          <p:cNvSpPr txBox="1"/>
          <p:nvPr/>
        </p:nvSpPr>
        <p:spPr>
          <a:xfrm>
            <a:off x="12061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Define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572C512-85C1-2E1D-17AA-B6C647BCCCDB}"/>
              </a:ext>
            </a:extLst>
          </p:cNvPr>
          <p:cNvSpPr/>
          <p:nvPr/>
        </p:nvSpPr>
        <p:spPr>
          <a:xfrm>
            <a:off x="32635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 and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Fetch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7CDA42-23CC-0100-1590-C502E4E2C4AF}"/>
              </a:ext>
            </a:extLst>
          </p:cNvPr>
          <p:cNvSpPr/>
          <p:nvPr/>
        </p:nvSpPr>
        <p:spPr>
          <a:xfrm>
            <a:off x="5320938" y="4918621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498FC3-C85F-AFD5-6B93-E2EDCE113E54}"/>
              </a:ext>
            </a:extLst>
          </p:cNvPr>
          <p:cNvSpPr txBox="1"/>
          <p:nvPr/>
        </p:nvSpPr>
        <p:spPr>
          <a:xfrm>
            <a:off x="5320938" y="4918621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Write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Code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BCE91B4-9E8D-B5CB-D045-92D047A3D0C0}"/>
              </a:ext>
            </a:extLst>
          </p:cNvPr>
          <p:cNvSpPr/>
          <p:nvPr/>
        </p:nvSpPr>
        <p:spPr>
          <a:xfrm>
            <a:off x="7378338" y="4918621"/>
            <a:ext cx="1554480" cy="9144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633DB1-9172-9753-56DA-7B55763C332F}"/>
              </a:ext>
            </a:extLst>
          </p:cNvPr>
          <p:cNvSpPr txBox="1"/>
          <p:nvPr/>
        </p:nvSpPr>
        <p:spPr>
          <a:xfrm>
            <a:off x="73783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Draft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Report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BEA8F0-5B36-BEB5-4124-688A8A87CC1C}"/>
              </a:ext>
            </a:extLst>
          </p:cNvPr>
          <p:cNvSpPr/>
          <p:nvPr/>
        </p:nvSpPr>
        <p:spPr>
          <a:xfrm>
            <a:off x="9435738" y="4918621"/>
            <a:ext cx="1554480" cy="914400"/>
          </a:xfrm>
          <a:prstGeom prst="round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69DF75-EBAB-E10A-57CB-E052A1068F3D}"/>
              </a:ext>
            </a:extLst>
          </p:cNvPr>
          <p:cNvSpPr txBox="1"/>
          <p:nvPr/>
        </p:nvSpPr>
        <p:spPr>
          <a:xfrm>
            <a:off x="9435738" y="4918621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Present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Findings</a:t>
            </a:r>
            <a:endParaRPr dirty="0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DD7ED29-A881-BDFE-5DAF-8A7CCEB5E3AB}"/>
              </a:ext>
            </a:extLst>
          </p:cNvPr>
          <p:cNvSpPr/>
          <p:nvPr/>
        </p:nvSpPr>
        <p:spPr>
          <a:xfrm>
            <a:off x="28291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8FD914C6-5B98-C3B9-405A-6CA315361963}"/>
              </a:ext>
            </a:extLst>
          </p:cNvPr>
          <p:cNvSpPr/>
          <p:nvPr/>
        </p:nvSpPr>
        <p:spPr>
          <a:xfrm>
            <a:off x="48865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72E9E1A-F81D-4030-73CC-466ED496BBFB}"/>
              </a:ext>
            </a:extLst>
          </p:cNvPr>
          <p:cNvSpPr/>
          <p:nvPr/>
        </p:nvSpPr>
        <p:spPr>
          <a:xfrm>
            <a:off x="69439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2C613388-9ABE-2824-88AE-536DF12D88F8}"/>
              </a:ext>
            </a:extLst>
          </p:cNvPr>
          <p:cNvSpPr/>
          <p:nvPr/>
        </p:nvSpPr>
        <p:spPr>
          <a:xfrm>
            <a:off x="9001398" y="5266093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82F7C0-CBE4-06CE-C381-D75B33E7FB73}"/>
              </a:ext>
            </a:extLst>
          </p:cNvPr>
          <p:cNvSpPr txBox="1"/>
          <p:nvPr/>
        </p:nvSpPr>
        <p:spPr>
          <a:xfrm>
            <a:off x="12039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78353C-A597-C9AA-A5A4-B0C57098392A}"/>
              </a:ext>
            </a:extLst>
          </p:cNvPr>
          <p:cNvSpPr txBox="1"/>
          <p:nvPr/>
        </p:nvSpPr>
        <p:spPr>
          <a:xfrm>
            <a:off x="53187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  <a:endParaRPr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C63455-0A7D-656D-7BD1-E042AC69C526}"/>
              </a:ext>
            </a:extLst>
          </p:cNvPr>
          <p:cNvSpPr txBox="1"/>
          <p:nvPr/>
        </p:nvSpPr>
        <p:spPr>
          <a:xfrm>
            <a:off x="32613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DA4151-6B1E-7450-8163-5EF52F0A5689}"/>
              </a:ext>
            </a:extLst>
          </p:cNvPr>
          <p:cNvSpPr txBox="1"/>
          <p:nvPr/>
        </p:nvSpPr>
        <p:spPr>
          <a:xfrm>
            <a:off x="73761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718209-35FD-48F1-2EE4-51D96C27CE49}"/>
              </a:ext>
            </a:extLst>
          </p:cNvPr>
          <p:cNvSpPr txBox="1"/>
          <p:nvPr/>
        </p:nvSpPr>
        <p:spPr>
          <a:xfrm>
            <a:off x="9433560" y="587874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22" name="Google Shape;198;p27">
            <a:extLst>
              <a:ext uri="{FF2B5EF4-FFF2-40B4-BE49-F238E27FC236}">
                <a16:creationId xmlns:a16="http://schemas.microsoft.com/office/drawing/2014/main" id="{268A72F9-C7C4-A124-58E7-AE0DCF04B57C}"/>
              </a:ext>
            </a:extLst>
          </p:cNvPr>
          <p:cNvSpPr txBox="1"/>
          <p:nvPr/>
        </p:nvSpPr>
        <p:spPr>
          <a:xfrm>
            <a:off x="7700214" y="4396331"/>
            <a:ext cx="989376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dirty="0">
                <a:solidFill>
                  <a:schemeClr val="dk1"/>
                </a:solidFill>
              </a:rPr>
              <a:t>🧑‍💻</a:t>
            </a:r>
            <a:r>
              <a:rPr lang="en" sz="2400" dirty="0"/>
              <a:t> </a:t>
            </a:r>
            <a:r>
              <a:rPr lang="en" sz="2000" dirty="0"/>
              <a:t>+</a:t>
            </a:r>
            <a:r>
              <a:rPr lang="en" sz="2400" dirty="0"/>
              <a:t> </a:t>
            </a: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5" name="Google Shape;198;p27">
            <a:extLst>
              <a:ext uri="{FF2B5EF4-FFF2-40B4-BE49-F238E27FC236}">
                <a16:creationId xmlns:a16="http://schemas.microsoft.com/office/drawing/2014/main" id="{5085918F-40D1-DC57-3B77-E12962179FBA}"/>
              </a:ext>
            </a:extLst>
          </p:cNvPr>
          <p:cNvSpPr txBox="1"/>
          <p:nvPr/>
        </p:nvSpPr>
        <p:spPr>
          <a:xfrm>
            <a:off x="5884768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6" name="Google Shape;198;p27">
            <a:extLst>
              <a:ext uri="{FF2B5EF4-FFF2-40B4-BE49-F238E27FC236}">
                <a16:creationId xmlns:a16="http://schemas.microsoft.com/office/drawing/2014/main" id="{097DC934-BDD3-692E-03F9-C4843B2C11D6}"/>
              </a:ext>
            </a:extLst>
          </p:cNvPr>
          <p:cNvSpPr txBox="1"/>
          <p:nvPr/>
        </p:nvSpPr>
        <p:spPr>
          <a:xfrm>
            <a:off x="3831555" y="4509036"/>
            <a:ext cx="4218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dirty="0">
                <a:solidFill>
                  <a:schemeClr val="dk1"/>
                </a:solidFill>
              </a:rPr>
              <a:t>🤖</a:t>
            </a:r>
            <a:endParaRPr sz="2000" dirty="0"/>
          </a:p>
        </p:txBody>
      </p:sp>
      <p:sp>
        <p:nvSpPr>
          <p:cNvPr id="27" name="Google Shape;197;p27">
            <a:extLst>
              <a:ext uri="{FF2B5EF4-FFF2-40B4-BE49-F238E27FC236}">
                <a16:creationId xmlns:a16="http://schemas.microsoft.com/office/drawing/2014/main" id="{ABDC0D2B-40B0-3DDE-E4E0-A051BED8BCD5}"/>
              </a:ext>
            </a:extLst>
          </p:cNvPr>
          <p:cNvSpPr txBox="1"/>
          <p:nvPr/>
        </p:nvSpPr>
        <p:spPr>
          <a:xfrm>
            <a:off x="9856432" y="4219613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  <p:sp>
        <p:nvSpPr>
          <p:cNvPr id="28" name="Google Shape;197;p27">
            <a:extLst>
              <a:ext uri="{FF2B5EF4-FFF2-40B4-BE49-F238E27FC236}">
                <a16:creationId xmlns:a16="http://schemas.microsoft.com/office/drawing/2014/main" id="{0E20B864-6FD1-8C97-B381-743FD77F00C4}"/>
              </a:ext>
            </a:extLst>
          </p:cNvPr>
          <p:cNvSpPr txBox="1"/>
          <p:nvPr/>
        </p:nvSpPr>
        <p:spPr>
          <a:xfrm>
            <a:off x="1643064" y="4219612"/>
            <a:ext cx="71161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1"/>
                </a:solidFill>
              </a:rPr>
              <a:t>🧑‍💻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4252540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Fragmentation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 i="1">
                <a:solidFill>
                  <a:srgbClr val="CADCFC"/>
                </a:solidFill>
                <a:latin typeface="Calibri"/>
              </a:defRPr>
            </a:pPr>
            <a:r>
              <a:t>Where AI Exposure Measures Fall Short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8921-7359-A595-ED0F-52D90B08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BFF204-7ADE-5B0E-2F9D-6AEA14A372F9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Clustering of AI-able Tasks Matters</a:t>
            </a:r>
            <a:endParaRPr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31A6540-6936-B5E8-C6F6-6B40C7224906}"/>
              </a:ext>
            </a:extLst>
          </p:cNvPr>
          <p:cNvSpPr/>
          <p:nvPr/>
        </p:nvSpPr>
        <p:spPr>
          <a:xfrm>
            <a:off x="873034" y="3745318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D5A1D-2E4F-7B7D-C930-59D931FFAFA3}"/>
              </a:ext>
            </a:extLst>
          </p:cNvPr>
          <p:cNvSpPr txBox="1"/>
          <p:nvPr/>
        </p:nvSpPr>
        <p:spPr>
          <a:xfrm>
            <a:off x="87303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5D4340-41EA-DACE-01E0-E761C95F194F}"/>
              </a:ext>
            </a:extLst>
          </p:cNvPr>
          <p:cNvSpPr/>
          <p:nvPr/>
        </p:nvSpPr>
        <p:spPr>
          <a:xfrm>
            <a:off x="2198914" y="3745318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3FCE1D-195F-44E3-01D8-CECECC9B3AF1}"/>
              </a:ext>
            </a:extLst>
          </p:cNvPr>
          <p:cNvSpPr txBox="1"/>
          <p:nvPr/>
        </p:nvSpPr>
        <p:spPr>
          <a:xfrm>
            <a:off x="219891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C5BE87E5-66B3-EC09-CEC4-50FEBF1F1061}"/>
              </a:ext>
            </a:extLst>
          </p:cNvPr>
          <p:cNvSpPr/>
          <p:nvPr/>
        </p:nvSpPr>
        <p:spPr>
          <a:xfrm>
            <a:off x="184714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4BC8B6E6-D7F8-E432-11C0-0B70CDBF4801}"/>
              </a:ext>
            </a:extLst>
          </p:cNvPr>
          <p:cNvSpPr/>
          <p:nvPr/>
        </p:nvSpPr>
        <p:spPr>
          <a:xfrm>
            <a:off x="317302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511D4B81-1DA6-1644-82B9-A2A17A9990B0}"/>
              </a:ext>
            </a:extLst>
          </p:cNvPr>
          <p:cNvSpPr/>
          <p:nvPr/>
        </p:nvSpPr>
        <p:spPr>
          <a:xfrm>
            <a:off x="3524794" y="3745318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D785CE-1F18-4D97-3E69-5E8ECD9F3EF6}"/>
              </a:ext>
            </a:extLst>
          </p:cNvPr>
          <p:cNvSpPr txBox="1"/>
          <p:nvPr/>
        </p:nvSpPr>
        <p:spPr>
          <a:xfrm>
            <a:off x="352479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9D986996-DCBA-00A5-85B9-8073038CD9D9}"/>
              </a:ext>
            </a:extLst>
          </p:cNvPr>
          <p:cNvSpPr/>
          <p:nvPr/>
        </p:nvSpPr>
        <p:spPr>
          <a:xfrm>
            <a:off x="4850674" y="3745318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BA086C-F29E-8B8C-C5B5-7B77986ED1F7}"/>
              </a:ext>
            </a:extLst>
          </p:cNvPr>
          <p:cNvSpPr txBox="1"/>
          <p:nvPr/>
        </p:nvSpPr>
        <p:spPr>
          <a:xfrm>
            <a:off x="485067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658A91AD-7B36-0026-B4CF-0D55F98F2160}"/>
              </a:ext>
            </a:extLst>
          </p:cNvPr>
          <p:cNvSpPr/>
          <p:nvPr/>
        </p:nvSpPr>
        <p:spPr>
          <a:xfrm>
            <a:off x="449890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5611E07A-6506-73BF-1B6D-05B9FD53A074}"/>
              </a:ext>
            </a:extLst>
          </p:cNvPr>
          <p:cNvSpPr/>
          <p:nvPr/>
        </p:nvSpPr>
        <p:spPr>
          <a:xfrm>
            <a:off x="582478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701526A2-263E-EC0F-A8C8-C2F7C686695A}"/>
              </a:ext>
            </a:extLst>
          </p:cNvPr>
          <p:cNvSpPr/>
          <p:nvPr/>
        </p:nvSpPr>
        <p:spPr>
          <a:xfrm>
            <a:off x="6176554" y="3745318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499F463-5C71-AB88-DA40-00D29A96DE5D}"/>
              </a:ext>
            </a:extLst>
          </p:cNvPr>
          <p:cNvSpPr txBox="1"/>
          <p:nvPr/>
        </p:nvSpPr>
        <p:spPr>
          <a:xfrm>
            <a:off x="617655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085374CE-8B06-B942-3F08-7047FB9EA59D}"/>
              </a:ext>
            </a:extLst>
          </p:cNvPr>
          <p:cNvSpPr/>
          <p:nvPr/>
        </p:nvSpPr>
        <p:spPr>
          <a:xfrm>
            <a:off x="7502434" y="3745318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2F44578-4DFC-BD94-9290-A772FA74D850}"/>
              </a:ext>
            </a:extLst>
          </p:cNvPr>
          <p:cNvSpPr txBox="1"/>
          <p:nvPr/>
        </p:nvSpPr>
        <p:spPr>
          <a:xfrm>
            <a:off x="750243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C39088FC-8438-F52D-2385-308B1AE86063}"/>
              </a:ext>
            </a:extLst>
          </p:cNvPr>
          <p:cNvSpPr/>
          <p:nvPr/>
        </p:nvSpPr>
        <p:spPr>
          <a:xfrm>
            <a:off x="715066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ight Arrow 81">
            <a:extLst>
              <a:ext uri="{FF2B5EF4-FFF2-40B4-BE49-F238E27FC236}">
                <a16:creationId xmlns:a16="http://schemas.microsoft.com/office/drawing/2014/main" id="{9F472D6C-0B36-841B-EC39-4E9E30FE1C01}"/>
              </a:ext>
            </a:extLst>
          </p:cNvPr>
          <p:cNvSpPr/>
          <p:nvPr/>
        </p:nvSpPr>
        <p:spPr>
          <a:xfrm>
            <a:off x="847654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55769CC6-5834-3830-BDEF-F97999CBC5B0}"/>
              </a:ext>
            </a:extLst>
          </p:cNvPr>
          <p:cNvSpPr/>
          <p:nvPr/>
        </p:nvSpPr>
        <p:spPr>
          <a:xfrm>
            <a:off x="8828314" y="3745318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D81F975-509C-D2EF-95BD-D02433C75B11}"/>
              </a:ext>
            </a:extLst>
          </p:cNvPr>
          <p:cNvSpPr txBox="1"/>
          <p:nvPr/>
        </p:nvSpPr>
        <p:spPr>
          <a:xfrm>
            <a:off x="882831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4E0E33D8-D715-3411-E368-D443BD67F123}"/>
              </a:ext>
            </a:extLst>
          </p:cNvPr>
          <p:cNvSpPr/>
          <p:nvPr/>
        </p:nvSpPr>
        <p:spPr>
          <a:xfrm>
            <a:off x="10154194" y="3745318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36265E5-92E5-EA31-13F9-7CA65D17F60A}"/>
              </a:ext>
            </a:extLst>
          </p:cNvPr>
          <p:cNvSpPr txBox="1"/>
          <p:nvPr/>
        </p:nvSpPr>
        <p:spPr>
          <a:xfrm>
            <a:off x="10154194" y="3745318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87" name="Right Arrow 86">
            <a:extLst>
              <a:ext uri="{FF2B5EF4-FFF2-40B4-BE49-F238E27FC236}">
                <a16:creationId xmlns:a16="http://schemas.microsoft.com/office/drawing/2014/main" id="{E6468685-7CE4-BCB0-1876-9D8EE7A7C214}"/>
              </a:ext>
            </a:extLst>
          </p:cNvPr>
          <p:cNvSpPr/>
          <p:nvPr/>
        </p:nvSpPr>
        <p:spPr>
          <a:xfrm>
            <a:off x="9802422" y="3926532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5865EC41-9F62-9BFA-1586-EAC053C5A7B1}"/>
              </a:ext>
            </a:extLst>
          </p:cNvPr>
          <p:cNvSpPr/>
          <p:nvPr/>
        </p:nvSpPr>
        <p:spPr>
          <a:xfrm>
            <a:off x="873034" y="5473345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E33F55E-72F1-71A4-8C1A-1C3E99733121}"/>
              </a:ext>
            </a:extLst>
          </p:cNvPr>
          <p:cNvSpPr txBox="1"/>
          <p:nvPr/>
        </p:nvSpPr>
        <p:spPr>
          <a:xfrm>
            <a:off x="87303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F5E8B197-FB85-3F61-3F3A-E6846767686A}"/>
              </a:ext>
            </a:extLst>
          </p:cNvPr>
          <p:cNvSpPr/>
          <p:nvPr/>
        </p:nvSpPr>
        <p:spPr>
          <a:xfrm>
            <a:off x="184714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ight Arrow 116">
            <a:extLst>
              <a:ext uri="{FF2B5EF4-FFF2-40B4-BE49-F238E27FC236}">
                <a16:creationId xmlns:a16="http://schemas.microsoft.com/office/drawing/2014/main" id="{F0C0CA5B-FC60-EC6F-58FA-A8D93533C62B}"/>
              </a:ext>
            </a:extLst>
          </p:cNvPr>
          <p:cNvSpPr/>
          <p:nvPr/>
        </p:nvSpPr>
        <p:spPr>
          <a:xfrm>
            <a:off x="317302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9E9157A8-B45C-C7B2-707B-ADE77A49B5FC}"/>
              </a:ext>
            </a:extLst>
          </p:cNvPr>
          <p:cNvSpPr/>
          <p:nvPr/>
        </p:nvSpPr>
        <p:spPr>
          <a:xfrm>
            <a:off x="3524794" y="5473345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6003479-25B6-4C52-60A6-446B6FB15B3F}"/>
              </a:ext>
            </a:extLst>
          </p:cNvPr>
          <p:cNvSpPr txBox="1"/>
          <p:nvPr/>
        </p:nvSpPr>
        <p:spPr>
          <a:xfrm>
            <a:off x="352479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122" name="Right Arrow 121">
            <a:extLst>
              <a:ext uri="{FF2B5EF4-FFF2-40B4-BE49-F238E27FC236}">
                <a16:creationId xmlns:a16="http://schemas.microsoft.com/office/drawing/2014/main" id="{835B6CD5-50E7-60C6-ADD4-585BB600B8D3}"/>
              </a:ext>
            </a:extLst>
          </p:cNvPr>
          <p:cNvSpPr/>
          <p:nvPr/>
        </p:nvSpPr>
        <p:spPr>
          <a:xfrm>
            <a:off x="449890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ight Arrow 122">
            <a:extLst>
              <a:ext uri="{FF2B5EF4-FFF2-40B4-BE49-F238E27FC236}">
                <a16:creationId xmlns:a16="http://schemas.microsoft.com/office/drawing/2014/main" id="{5F20C3F7-2B7F-B7E3-0563-127B933ED86D}"/>
              </a:ext>
            </a:extLst>
          </p:cNvPr>
          <p:cNvSpPr/>
          <p:nvPr/>
        </p:nvSpPr>
        <p:spPr>
          <a:xfrm>
            <a:off x="582478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A30AC920-BAC9-9DE9-1305-57FDE01CA387}"/>
              </a:ext>
            </a:extLst>
          </p:cNvPr>
          <p:cNvSpPr/>
          <p:nvPr/>
        </p:nvSpPr>
        <p:spPr>
          <a:xfrm>
            <a:off x="2198914" y="5473345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9356B44-DB8E-6A48-6DF4-7F64EAD332A2}"/>
              </a:ext>
            </a:extLst>
          </p:cNvPr>
          <p:cNvSpPr txBox="1"/>
          <p:nvPr/>
        </p:nvSpPr>
        <p:spPr>
          <a:xfrm>
            <a:off x="219891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52671691-2D15-54D2-521E-028E120AF772}"/>
              </a:ext>
            </a:extLst>
          </p:cNvPr>
          <p:cNvSpPr/>
          <p:nvPr/>
        </p:nvSpPr>
        <p:spPr>
          <a:xfrm>
            <a:off x="4850674" y="5473345"/>
            <a:ext cx="932688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291958-1689-12D7-D399-0541E97B0B02}"/>
              </a:ext>
            </a:extLst>
          </p:cNvPr>
          <p:cNvSpPr txBox="1"/>
          <p:nvPr/>
        </p:nvSpPr>
        <p:spPr>
          <a:xfrm>
            <a:off x="485067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FB0F5D21-5B07-4364-5AA3-36F65838FC8A}"/>
              </a:ext>
            </a:extLst>
          </p:cNvPr>
          <p:cNvSpPr/>
          <p:nvPr/>
        </p:nvSpPr>
        <p:spPr>
          <a:xfrm>
            <a:off x="6176554" y="5473345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1ED9BE8-83F0-9459-75CD-60A6D11F435E}"/>
              </a:ext>
            </a:extLst>
          </p:cNvPr>
          <p:cNvSpPr txBox="1"/>
          <p:nvPr/>
        </p:nvSpPr>
        <p:spPr>
          <a:xfrm>
            <a:off x="617655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  <a:endParaRPr dirty="0"/>
          </a:p>
        </p:txBody>
      </p:sp>
      <p:sp>
        <p:nvSpPr>
          <p:cNvPr id="130" name="Right Arrow 129">
            <a:extLst>
              <a:ext uri="{FF2B5EF4-FFF2-40B4-BE49-F238E27FC236}">
                <a16:creationId xmlns:a16="http://schemas.microsoft.com/office/drawing/2014/main" id="{034130D0-B0D3-C909-3BFA-6A8A727B8313}"/>
              </a:ext>
            </a:extLst>
          </p:cNvPr>
          <p:cNvSpPr/>
          <p:nvPr/>
        </p:nvSpPr>
        <p:spPr>
          <a:xfrm>
            <a:off x="715066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14B78A34-1760-B68A-0815-25555FA359F9}"/>
              </a:ext>
            </a:extLst>
          </p:cNvPr>
          <p:cNvSpPr/>
          <p:nvPr/>
        </p:nvSpPr>
        <p:spPr>
          <a:xfrm>
            <a:off x="8828314" y="5473345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17A51A6-B991-2991-C96C-37A0AF16C9CA}"/>
              </a:ext>
            </a:extLst>
          </p:cNvPr>
          <p:cNvSpPr txBox="1"/>
          <p:nvPr/>
        </p:nvSpPr>
        <p:spPr>
          <a:xfrm>
            <a:off x="882831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  <a:endParaRPr dirty="0"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BC112FD3-0986-9131-D853-051B12C38E2D}"/>
              </a:ext>
            </a:extLst>
          </p:cNvPr>
          <p:cNvSpPr/>
          <p:nvPr/>
        </p:nvSpPr>
        <p:spPr>
          <a:xfrm>
            <a:off x="847654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ounded Rectangle 135">
            <a:extLst>
              <a:ext uri="{FF2B5EF4-FFF2-40B4-BE49-F238E27FC236}">
                <a16:creationId xmlns:a16="http://schemas.microsoft.com/office/drawing/2014/main" id="{91D1AD4D-6357-AB4B-6308-53B6DF22E949}"/>
              </a:ext>
            </a:extLst>
          </p:cNvPr>
          <p:cNvSpPr/>
          <p:nvPr/>
        </p:nvSpPr>
        <p:spPr>
          <a:xfrm>
            <a:off x="7502434" y="5473345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A17049DF-9C34-1737-EFBE-41C4C7A82352}"/>
              </a:ext>
            </a:extLst>
          </p:cNvPr>
          <p:cNvSpPr txBox="1"/>
          <p:nvPr/>
        </p:nvSpPr>
        <p:spPr>
          <a:xfrm>
            <a:off x="750243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  <a:endParaRPr dirty="0"/>
          </a:p>
        </p:txBody>
      </p:sp>
      <p:sp>
        <p:nvSpPr>
          <p:cNvPr id="143" name="Right Arrow 142">
            <a:extLst>
              <a:ext uri="{FF2B5EF4-FFF2-40B4-BE49-F238E27FC236}">
                <a16:creationId xmlns:a16="http://schemas.microsoft.com/office/drawing/2014/main" id="{E5606914-9F3B-BD4A-7194-75F5950F2F54}"/>
              </a:ext>
            </a:extLst>
          </p:cNvPr>
          <p:cNvSpPr/>
          <p:nvPr/>
        </p:nvSpPr>
        <p:spPr>
          <a:xfrm>
            <a:off x="9802422" y="5654559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ounded Rectangle 143">
            <a:extLst>
              <a:ext uri="{FF2B5EF4-FFF2-40B4-BE49-F238E27FC236}">
                <a16:creationId xmlns:a16="http://schemas.microsoft.com/office/drawing/2014/main" id="{150D365B-1DBC-D5BF-1CB2-01321D77EDD4}"/>
              </a:ext>
            </a:extLst>
          </p:cNvPr>
          <p:cNvSpPr/>
          <p:nvPr/>
        </p:nvSpPr>
        <p:spPr>
          <a:xfrm>
            <a:off x="10154194" y="5473345"/>
            <a:ext cx="932688" cy="54864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AE62B50-67C5-1DE2-9EA5-658A88A04450}"/>
              </a:ext>
            </a:extLst>
          </p:cNvPr>
          <p:cNvSpPr txBox="1"/>
          <p:nvPr/>
        </p:nvSpPr>
        <p:spPr>
          <a:xfrm>
            <a:off x="10154194" y="5473345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  <a:endParaRPr dirty="0"/>
          </a:p>
        </p:txBody>
      </p:sp>
      <p:sp>
        <p:nvSpPr>
          <p:cNvPr id="146" name="TextBox 145"/>
          <p:cNvSpPr txBox="1"/>
          <p:nvPr/>
        </p:nvSpPr>
        <p:spPr>
          <a:xfrm>
            <a:off x="731520" y="3274610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1: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D2E46C-57FC-CFAA-1B97-1DF448BA83F2}"/>
              </a:ext>
            </a:extLst>
          </p:cNvPr>
          <p:cNvSpPr txBox="1"/>
          <p:nvPr/>
        </p:nvSpPr>
        <p:spPr>
          <a:xfrm>
            <a:off x="731520" y="4975817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A3E7A"/>
                </a:solidFill>
              </a:rPr>
              <a:t>Occupation 2: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2F03FA-7665-BDBE-89F7-7E3073BA3EA7}"/>
              </a:ext>
            </a:extLst>
          </p:cNvPr>
          <p:cNvSpPr txBox="1"/>
          <p:nvPr/>
        </p:nvSpPr>
        <p:spPr>
          <a:xfrm>
            <a:off x="731520" y="1148316"/>
            <a:ext cx="10698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Two “similar” occupations.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u="sng" dirty="0"/>
              <a:t>Only difference</a:t>
            </a:r>
            <a:r>
              <a:rPr lang="en-US" sz="2800" dirty="0"/>
              <a:t>: ordering of AI-able tasks.</a:t>
            </a:r>
          </a:p>
        </p:txBody>
      </p:sp>
    </p:spTree>
    <p:extLst>
      <p:ext uri="{BB962C8B-B14F-4D97-AF65-F5344CB8AC3E}">
        <p14:creationId xmlns:p14="http://schemas.microsoft.com/office/powerpoint/2010/main" val="1637577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0016-0CE8-8C6E-1222-24C3097CF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8516C-41E1-4492-0FC3-B830411FC2EA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Clustering of AI-able Tasks Matters (cont.)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B3264AB-FC72-7A04-7111-D9D5FAC41827}"/>
              </a:ext>
            </a:extLst>
          </p:cNvPr>
          <p:cNvSpPr/>
          <p:nvPr/>
        </p:nvSpPr>
        <p:spPr>
          <a:xfrm>
            <a:off x="873034" y="3739741"/>
            <a:ext cx="932688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6A3B58-DC9B-001B-6903-D756AA59E5B7}"/>
              </a:ext>
            </a:extLst>
          </p:cNvPr>
          <p:cNvSpPr txBox="1"/>
          <p:nvPr/>
        </p:nvSpPr>
        <p:spPr>
          <a:xfrm>
            <a:off x="87303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8B5C5A6-E59F-B17A-3D1B-70B8E2A2C3B0}"/>
              </a:ext>
            </a:extLst>
          </p:cNvPr>
          <p:cNvSpPr/>
          <p:nvPr/>
        </p:nvSpPr>
        <p:spPr>
          <a:xfrm>
            <a:off x="2198914" y="3739741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C3398-D870-26BB-A528-190D8000737F}"/>
              </a:ext>
            </a:extLst>
          </p:cNvPr>
          <p:cNvSpPr txBox="1"/>
          <p:nvPr/>
        </p:nvSpPr>
        <p:spPr>
          <a:xfrm>
            <a:off x="219891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05627859-23E6-42C4-175B-F53FA26D81D5}"/>
              </a:ext>
            </a:extLst>
          </p:cNvPr>
          <p:cNvSpPr/>
          <p:nvPr/>
        </p:nvSpPr>
        <p:spPr>
          <a:xfrm>
            <a:off x="184714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37B8D9C8-A949-85C2-0443-DAD510476AB4}"/>
              </a:ext>
            </a:extLst>
          </p:cNvPr>
          <p:cNvSpPr/>
          <p:nvPr/>
        </p:nvSpPr>
        <p:spPr>
          <a:xfrm>
            <a:off x="317302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9C0B7317-49F7-6C0F-ADEA-12B9191AEBE8}"/>
              </a:ext>
            </a:extLst>
          </p:cNvPr>
          <p:cNvSpPr/>
          <p:nvPr/>
        </p:nvSpPr>
        <p:spPr>
          <a:xfrm>
            <a:off x="449890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ight Arrow 69">
            <a:extLst>
              <a:ext uri="{FF2B5EF4-FFF2-40B4-BE49-F238E27FC236}">
                <a16:creationId xmlns:a16="http://schemas.microsoft.com/office/drawing/2014/main" id="{6780B63C-5F6D-A886-71AD-DFAC685DF352}"/>
              </a:ext>
            </a:extLst>
          </p:cNvPr>
          <p:cNvSpPr/>
          <p:nvPr/>
        </p:nvSpPr>
        <p:spPr>
          <a:xfrm>
            <a:off x="582478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ight Arrow 80">
            <a:extLst>
              <a:ext uri="{FF2B5EF4-FFF2-40B4-BE49-F238E27FC236}">
                <a16:creationId xmlns:a16="http://schemas.microsoft.com/office/drawing/2014/main" id="{DF0E4DC1-680C-5855-2652-D2AA8F4104B3}"/>
              </a:ext>
            </a:extLst>
          </p:cNvPr>
          <p:cNvSpPr/>
          <p:nvPr/>
        </p:nvSpPr>
        <p:spPr>
          <a:xfrm>
            <a:off x="715066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ight Arrow 81">
            <a:extLst>
              <a:ext uri="{FF2B5EF4-FFF2-40B4-BE49-F238E27FC236}">
                <a16:creationId xmlns:a16="http://schemas.microsoft.com/office/drawing/2014/main" id="{56CD498F-2788-825B-807B-40ABF868088F}"/>
              </a:ext>
            </a:extLst>
          </p:cNvPr>
          <p:cNvSpPr/>
          <p:nvPr/>
        </p:nvSpPr>
        <p:spPr>
          <a:xfrm>
            <a:off x="847654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ight Arrow 86">
            <a:extLst>
              <a:ext uri="{FF2B5EF4-FFF2-40B4-BE49-F238E27FC236}">
                <a16:creationId xmlns:a16="http://schemas.microsoft.com/office/drawing/2014/main" id="{D451FB87-B9A4-64BA-C65C-BC3A55F425F5}"/>
              </a:ext>
            </a:extLst>
          </p:cNvPr>
          <p:cNvSpPr/>
          <p:nvPr/>
        </p:nvSpPr>
        <p:spPr>
          <a:xfrm>
            <a:off x="9802422" y="3920955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ight Arrow 115">
            <a:extLst>
              <a:ext uri="{FF2B5EF4-FFF2-40B4-BE49-F238E27FC236}">
                <a16:creationId xmlns:a16="http://schemas.microsoft.com/office/drawing/2014/main" id="{317CF29B-3576-2982-827F-F10968CD31B8}"/>
              </a:ext>
            </a:extLst>
          </p:cNvPr>
          <p:cNvSpPr/>
          <p:nvPr/>
        </p:nvSpPr>
        <p:spPr>
          <a:xfrm>
            <a:off x="184714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ight Arrow 116">
            <a:extLst>
              <a:ext uri="{FF2B5EF4-FFF2-40B4-BE49-F238E27FC236}">
                <a16:creationId xmlns:a16="http://schemas.microsoft.com/office/drawing/2014/main" id="{2735DA81-83E1-C1AB-DDA2-AFC12096A40C}"/>
              </a:ext>
            </a:extLst>
          </p:cNvPr>
          <p:cNvSpPr/>
          <p:nvPr/>
        </p:nvSpPr>
        <p:spPr>
          <a:xfrm>
            <a:off x="317302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59E5C4C6-D4B3-D818-2DDF-2464EA06E585}"/>
              </a:ext>
            </a:extLst>
          </p:cNvPr>
          <p:cNvSpPr/>
          <p:nvPr/>
        </p:nvSpPr>
        <p:spPr>
          <a:xfrm>
            <a:off x="3524794" y="5464640"/>
            <a:ext cx="932688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A6FB16E-E226-E505-28AD-467581B87C35}"/>
              </a:ext>
            </a:extLst>
          </p:cNvPr>
          <p:cNvSpPr txBox="1"/>
          <p:nvPr/>
        </p:nvSpPr>
        <p:spPr>
          <a:xfrm>
            <a:off x="352479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122" name="Right Arrow 121">
            <a:extLst>
              <a:ext uri="{FF2B5EF4-FFF2-40B4-BE49-F238E27FC236}">
                <a16:creationId xmlns:a16="http://schemas.microsoft.com/office/drawing/2014/main" id="{38EA95A3-3E93-9357-41C2-09FCB43D71F3}"/>
              </a:ext>
            </a:extLst>
          </p:cNvPr>
          <p:cNvSpPr/>
          <p:nvPr/>
        </p:nvSpPr>
        <p:spPr>
          <a:xfrm>
            <a:off x="449890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ight Arrow 122">
            <a:extLst>
              <a:ext uri="{FF2B5EF4-FFF2-40B4-BE49-F238E27FC236}">
                <a16:creationId xmlns:a16="http://schemas.microsoft.com/office/drawing/2014/main" id="{2A9A2D75-0C0B-4A93-09DE-3D9F55D923BF}"/>
              </a:ext>
            </a:extLst>
          </p:cNvPr>
          <p:cNvSpPr/>
          <p:nvPr/>
        </p:nvSpPr>
        <p:spPr>
          <a:xfrm>
            <a:off x="582478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ight Arrow 129">
            <a:extLst>
              <a:ext uri="{FF2B5EF4-FFF2-40B4-BE49-F238E27FC236}">
                <a16:creationId xmlns:a16="http://schemas.microsoft.com/office/drawing/2014/main" id="{83B23A4D-E8D7-3342-1510-A2700665115E}"/>
              </a:ext>
            </a:extLst>
          </p:cNvPr>
          <p:cNvSpPr/>
          <p:nvPr/>
        </p:nvSpPr>
        <p:spPr>
          <a:xfrm>
            <a:off x="715066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ight Arrow 134">
            <a:extLst>
              <a:ext uri="{FF2B5EF4-FFF2-40B4-BE49-F238E27FC236}">
                <a16:creationId xmlns:a16="http://schemas.microsoft.com/office/drawing/2014/main" id="{812E5E89-EF6F-3A1C-3EFB-1B324D0D10B7}"/>
              </a:ext>
            </a:extLst>
          </p:cNvPr>
          <p:cNvSpPr/>
          <p:nvPr/>
        </p:nvSpPr>
        <p:spPr>
          <a:xfrm>
            <a:off x="847654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DC9EE-C1C5-F36D-D716-5F45F6AB2849}"/>
              </a:ext>
            </a:extLst>
          </p:cNvPr>
          <p:cNvSpPr txBox="1"/>
          <p:nvPr/>
        </p:nvSpPr>
        <p:spPr>
          <a:xfrm>
            <a:off x="56213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FA88028-8C72-5452-0C03-33E2B994C744}"/>
              </a:ext>
            </a:extLst>
          </p:cNvPr>
          <p:cNvSpPr/>
          <p:nvPr/>
        </p:nvSpPr>
        <p:spPr>
          <a:xfrm>
            <a:off x="3524794" y="3739741"/>
            <a:ext cx="932688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274A24-E849-2FD0-0906-31F780988E3F}"/>
              </a:ext>
            </a:extLst>
          </p:cNvPr>
          <p:cNvSpPr txBox="1"/>
          <p:nvPr/>
        </p:nvSpPr>
        <p:spPr>
          <a:xfrm>
            <a:off x="352479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F52568-55D1-B8D0-6C92-2AF0CDA21D70}"/>
              </a:ext>
            </a:extLst>
          </p:cNvPr>
          <p:cNvSpPr txBox="1"/>
          <p:nvPr/>
        </p:nvSpPr>
        <p:spPr>
          <a:xfrm>
            <a:off x="321389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F47E317-56ED-A1D7-3C21-9541CE649333}"/>
              </a:ext>
            </a:extLst>
          </p:cNvPr>
          <p:cNvSpPr/>
          <p:nvPr/>
        </p:nvSpPr>
        <p:spPr>
          <a:xfrm>
            <a:off x="6176554" y="3739741"/>
            <a:ext cx="932688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459FEE-222A-17F4-4AA1-1D373DCC569E}"/>
              </a:ext>
            </a:extLst>
          </p:cNvPr>
          <p:cNvSpPr txBox="1"/>
          <p:nvPr/>
        </p:nvSpPr>
        <p:spPr>
          <a:xfrm>
            <a:off x="617655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9BC16E-1FB3-CD29-91BA-D376D128D490}"/>
              </a:ext>
            </a:extLst>
          </p:cNvPr>
          <p:cNvSpPr txBox="1"/>
          <p:nvPr/>
        </p:nvSpPr>
        <p:spPr>
          <a:xfrm>
            <a:off x="586565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50C12A-45A7-4486-9CA9-B85201157080}"/>
              </a:ext>
            </a:extLst>
          </p:cNvPr>
          <p:cNvSpPr/>
          <p:nvPr/>
        </p:nvSpPr>
        <p:spPr>
          <a:xfrm>
            <a:off x="8828314" y="3739741"/>
            <a:ext cx="932688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59C3EF-28CA-727D-3ECE-AF64024D6F3A}"/>
              </a:ext>
            </a:extLst>
          </p:cNvPr>
          <p:cNvSpPr txBox="1"/>
          <p:nvPr/>
        </p:nvSpPr>
        <p:spPr>
          <a:xfrm>
            <a:off x="882831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B99A8-7097-D7D7-BE7F-A065410386E4}"/>
              </a:ext>
            </a:extLst>
          </p:cNvPr>
          <p:cNvSpPr txBox="1"/>
          <p:nvPr/>
        </p:nvSpPr>
        <p:spPr>
          <a:xfrm>
            <a:off x="851741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60727D0-2B00-84FA-9828-5DC69DEEC7F5}"/>
              </a:ext>
            </a:extLst>
          </p:cNvPr>
          <p:cNvSpPr/>
          <p:nvPr/>
        </p:nvSpPr>
        <p:spPr>
          <a:xfrm>
            <a:off x="4850674" y="5464640"/>
            <a:ext cx="932688" cy="54864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BEA70-EDB7-7FDF-89A8-16D1D336C555}"/>
              </a:ext>
            </a:extLst>
          </p:cNvPr>
          <p:cNvSpPr txBox="1"/>
          <p:nvPr/>
        </p:nvSpPr>
        <p:spPr>
          <a:xfrm>
            <a:off x="485067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DD09FB-9D64-67C2-367F-88C8528D4057}"/>
              </a:ext>
            </a:extLst>
          </p:cNvPr>
          <p:cNvSpPr txBox="1"/>
          <p:nvPr/>
        </p:nvSpPr>
        <p:spPr>
          <a:xfrm>
            <a:off x="4539778" y="60225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21F083-6B8F-ADF7-99CA-51B24E4D35B9}"/>
              </a:ext>
            </a:extLst>
          </p:cNvPr>
          <p:cNvSpPr txBox="1"/>
          <p:nvPr/>
        </p:nvSpPr>
        <p:spPr>
          <a:xfrm>
            <a:off x="3213898" y="60317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A1D59A4-85BC-D010-BAE8-8837285B7589}"/>
              </a:ext>
            </a:extLst>
          </p:cNvPr>
          <p:cNvSpPr/>
          <p:nvPr/>
        </p:nvSpPr>
        <p:spPr>
          <a:xfrm>
            <a:off x="2198914" y="5464640"/>
            <a:ext cx="932688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8BF213-C8A5-D059-413F-D9EE449B627B}"/>
              </a:ext>
            </a:extLst>
          </p:cNvPr>
          <p:cNvSpPr txBox="1"/>
          <p:nvPr/>
        </p:nvSpPr>
        <p:spPr>
          <a:xfrm>
            <a:off x="219891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790D33F-3CA6-42BB-07DA-2AE5D9882ADB}"/>
              </a:ext>
            </a:extLst>
          </p:cNvPr>
          <p:cNvSpPr txBox="1"/>
          <p:nvPr/>
        </p:nvSpPr>
        <p:spPr>
          <a:xfrm>
            <a:off x="1888018" y="60317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CAE7C53-220B-5955-533D-9DB058D8546C}"/>
              </a:ext>
            </a:extLst>
          </p:cNvPr>
          <p:cNvSpPr/>
          <p:nvPr/>
        </p:nvSpPr>
        <p:spPr>
          <a:xfrm>
            <a:off x="873034" y="5464640"/>
            <a:ext cx="932688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B46F04-7D6C-6544-90A3-B4FC53EF3CF7}"/>
              </a:ext>
            </a:extLst>
          </p:cNvPr>
          <p:cNvSpPr txBox="1"/>
          <p:nvPr/>
        </p:nvSpPr>
        <p:spPr>
          <a:xfrm>
            <a:off x="87303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Easy</a:t>
            </a:r>
            <a:endParaRPr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60C9EB-BBA3-C935-D594-7C5AD06A34AE}"/>
              </a:ext>
            </a:extLst>
          </p:cNvPr>
          <p:cNvSpPr txBox="1"/>
          <p:nvPr/>
        </p:nvSpPr>
        <p:spPr>
          <a:xfrm>
            <a:off x="562138" y="603172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55B187-84E6-C66C-8DB2-B7FEB7CA491C}"/>
              </a:ext>
            </a:extLst>
          </p:cNvPr>
          <p:cNvSpPr txBox="1"/>
          <p:nvPr/>
        </p:nvSpPr>
        <p:spPr>
          <a:xfrm>
            <a:off x="188801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8BFF7A3-C0EA-05F1-59AA-18991E74F270}"/>
              </a:ext>
            </a:extLst>
          </p:cNvPr>
          <p:cNvSpPr/>
          <p:nvPr/>
        </p:nvSpPr>
        <p:spPr>
          <a:xfrm>
            <a:off x="4850674" y="3739741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2E9383-5F63-B350-C87E-BA26C6996212}"/>
              </a:ext>
            </a:extLst>
          </p:cNvPr>
          <p:cNvSpPr txBox="1"/>
          <p:nvPr/>
        </p:nvSpPr>
        <p:spPr>
          <a:xfrm>
            <a:off x="485067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CB6C53-9505-FD2D-B033-BB394B5A1C37}"/>
              </a:ext>
            </a:extLst>
          </p:cNvPr>
          <p:cNvSpPr txBox="1"/>
          <p:nvPr/>
        </p:nvSpPr>
        <p:spPr>
          <a:xfrm>
            <a:off x="453977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E1FA007-3686-1285-33CE-58C927A1D13C}"/>
              </a:ext>
            </a:extLst>
          </p:cNvPr>
          <p:cNvSpPr/>
          <p:nvPr/>
        </p:nvSpPr>
        <p:spPr>
          <a:xfrm>
            <a:off x="7502434" y="3739741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43EA72-8C2B-7AA9-165C-92065A302D29}"/>
              </a:ext>
            </a:extLst>
          </p:cNvPr>
          <p:cNvSpPr txBox="1"/>
          <p:nvPr/>
        </p:nvSpPr>
        <p:spPr>
          <a:xfrm>
            <a:off x="750243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4E02E9-0216-4A21-DE71-673F8126CFA4}"/>
              </a:ext>
            </a:extLst>
          </p:cNvPr>
          <p:cNvSpPr txBox="1"/>
          <p:nvPr/>
        </p:nvSpPr>
        <p:spPr>
          <a:xfrm>
            <a:off x="719153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203D06D8-51C8-C426-A7E5-2C7ECF46F915}"/>
              </a:ext>
            </a:extLst>
          </p:cNvPr>
          <p:cNvSpPr/>
          <p:nvPr/>
        </p:nvSpPr>
        <p:spPr>
          <a:xfrm>
            <a:off x="10154194" y="3739741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FDDED9-04AB-9BD9-185F-871AE48B42DD}"/>
              </a:ext>
            </a:extLst>
          </p:cNvPr>
          <p:cNvSpPr txBox="1"/>
          <p:nvPr/>
        </p:nvSpPr>
        <p:spPr>
          <a:xfrm>
            <a:off x="10154194" y="3739741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E45868-BEB2-F195-0AC8-C80F3F288FC5}"/>
              </a:ext>
            </a:extLst>
          </p:cNvPr>
          <p:cNvSpPr txBox="1"/>
          <p:nvPr/>
        </p:nvSpPr>
        <p:spPr>
          <a:xfrm>
            <a:off x="9843298" y="4297601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03322B32-50B2-5640-1F48-993D6217BFC9}"/>
              </a:ext>
            </a:extLst>
          </p:cNvPr>
          <p:cNvSpPr/>
          <p:nvPr/>
        </p:nvSpPr>
        <p:spPr>
          <a:xfrm>
            <a:off x="6176554" y="5464640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C14322-9A84-57CA-B9DA-C568697E1D5A}"/>
              </a:ext>
            </a:extLst>
          </p:cNvPr>
          <p:cNvSpPr txBox="1"/>
          <p:nvPr/>
        </p:nvSpPr>
        <p:spPr>
          <a:xfrm>
            <a:off x="617655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80CDDAB-C1D7-F3C9-91AF-67E068E68D28}"/>
              </a:ext>
            </a:extLst>
          </p:cNvPr>
          <p:cNvSpPr txBox="1"/>
          <p:nvPr/>
        </p:nvSpPr>
        <p:spPr>
          <a:xfrm>
            <a:off x="5865658" y="60225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A267D1C4-91EB-1F2C-1379-CD0A44FA88B8}"/>
              </a:ext>
            </a:extLst>
          </p:cNvPr>
          <p:cNvSpPr/>
          <p:nvPr/>
        </p:nvSpPr>
        <p:spPr>
          <a:xfrm>
            <a:off x="7502434" y="5464640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83EDAE-A76F-F915-8A5A-52229098A43E}"/>
              </a:ext>
            </a:extLst>
          </p:cNvPr>
          <p:cNvSpPr txBox="1"/>
          <p:nvPr/>
        </p:nvSpPr>
        <p:spPr>
          <a:xfrm>
            <a:off x="750243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BEFE13-EA0E-4A0B-5A9F-93BABC8B736E}"/>
              </a:ext>
            </a:extLst>
          </p:cNvPr>
          <p:cNvSpPr txBox="1"/>
          <p:nvPr/>
        </p:nvSpPr>
        <p:spPr>
          <a:xfrm>
            <a:off x="7191538" y="60225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36BEAEB1-1287-04A0-0752-FC0CFC416FF1}"/>
              </a:ext>
            </a:extLst>
          </p:cNvPr>
          <p:cNvSpPr/>
          <p:nvPr/>
        </p:nvSpPr>
        <p:spPr>
          <a:xfrm>
            <a:off x="9802422" y="564585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4E004C3-E7F1-0020-4368-E0EA9A2F7A59}"/>
              </a:ext>
            </a:extLst>
          </p:cNvPr>
          <p:cNvSpPr/>
          <p:nvPr/>
        </p:nvSpPr>
        <p:spPr>
          <a:xfrm>
            <a:off x="8828314" y="5464640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17F8A8-B20C-715D-7E39-9B7E9D99EB53}"/>
              </a:ext>
            </a:extLst>
          </p:cNvPr>
          <p:cNvSpPr txBox="1"/>
          <p:nvPr/>
        </p:nvSpPr>
        <p:spPr>
          <a:xfrm>
            <a:off x="882831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4284ECB-448A-68BD-AB65-2ABD06D984A5}"/>
              </a:ext>
            </a:extLst>
          </p:cNvPr>
          <p:cNvSpPr txBox="1"/>
          <p:nvPr/>
        </p:nvSpPr>
        <p:spPr>
          <a:xfrm>
            <a:off x="8517418" y="60225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26DAB2F-5480-1DB8-47A0-CB5258168D75}"/>
              </a:ext>
            </a:extLst>
          </p:cNvPr>
          <p:cNvSpPr/>
          <p:nvPr/>
        </p:nvSpPr>
        <p:spPr>
          <a:xfrm>
            <a:off x="10154194" y="5464640"/>
            <a:ext cx="932688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334B6F-4454-330F-2D5A-C93A370739BB}"/>
              </a:ext>
            </a:extLst>
          </p:cNvPr>
          <p:cNvSpPr txBox="1"/>
          <p:nvPr/>
        </p:nvSpPr>
        <p:spPr>
          <a:xfrm>
            <a:off x="10154194" y="5464640"/>
            <a:ext cx="932688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Hard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EABFD8-AB74-F6EB-8FE2-4A1057BDF540}"/>
              </a:ext>
            </a:extLst>
          </p:cNvPr>
          <p:cNvSpPr txBox="1"/>
          <p:nvPr/>
        </p:nvSpPr>
        <p:spPr>
          <a:xfrm>
            <a:off x="9843298" y="602250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A4A24AF-4E69-BCFC-7B42-7C54F8F97310}"/>
              </a:ext>
            </a:extLst>
          </p:cNvPr>
          <p:cNvSpPr/>
          <p:nvPr/>
        </p:nvSpPr>
        <p:spPr>
          <a:xfrm>
            <a:off x="760503" y="5327481"/>
            <a:ext cx="5254944" cy="975870"/>
          </a:xfrm>
          <a:prstGeom prst="rect">
            <a:avLst/>
          </a:prstGeom>
          <a:noFill/>
          <a:ln w="31750">
            <a:solidFill>
              <a:srgbClr val="0096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7620A2-D636-8F23-61F2-B5EEEFDD417D}"/>
              </a:ext>
            </a:extLst>
          </p:cNvPr>
          <p:cNvSpPr txBox="1"/>
          <p:nvPr/>
        </p:nvSpPr>
        <p:spPr>
          <a:xfrm>
            <a:off x="731520" y="3274610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1: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33F2F-8A37-303D-EEFF-28055D411AC2}"/>
              </a:ext>
            </a:extLst>
          </p:cNvPr>
          <p:cNvSpPr txBox="1"/>
          <p:nvPr/>
        </p:nvSpPr>
        <p:spPr>
          <a:xfrm>
            <a:off x="731520" y="4975821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1A3E7A"/>
                </a:solidFill>
              </a:rPr>
              <a:t>Occupation 2: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B38BA-30AC-DBFC-8DF8-5C71C87E64C8}"/>
              </a:ext>
            </a:extLst>
          </p:cNvPr>
          <p:cNvSpPr txBox="1"/>
          <p:nvPr/>
        </p:nvSpPr>
        <p:spPr>
          <a:xfrm>
            <a:off x="731520" y="1148316"/>
            <a:ext cx="10698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Two “similar” occupations.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For a fixed AI quality, Occupation 2 gains much more from AI!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7781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83804-06F5-B0FC-D639-DBC48D5A5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331B33-1260-3358-8624-45C3D5176B3D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Clustering of AI-able Tasks Matters (cont.)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09C5B9-C5D8-9E2A-1A5D-7FCF8ABA855E}"/>
              </a:ext>
            </a:extLst>
          </p:cNvPr>
          <p:cNvSpPr txBox="1"/>
          <p:nvPr/>
        </p:nvSpPr>
        <p:spPr>
          <a:xfrm>
            <a:off x="731520" y="1905506"/>
            <a:ext cx="1069412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Takeaways: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1) Translation from task-level AI exposure to actual gains from AI execution depends on workflow structure.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2) Redesign workflows to leverage chaining capabilities of AI.</a:t>
            </a:r>
          </a:p>
        </p:txBody>
      </p:sp>
    </p:spTree>
    <p:extLst>
      <p:ext uri="{BB962C8B-B14F-4D97-AF65-F5344CB8AC3E}">
        <p14:creationId xmlns:p14="http://schemas.microsoft.com/office/powerpoint/2010/main" val="8089885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68287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rPr lang="en-US" dirty="0"/>
              <a:t>Importance of Local Work Context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371600" y="3073038"/>
            <a:ext cx="9418320" cy="73369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 i="0">
                <a:solidFill>
                  <a:srgbClr val="CADCFC"/>
                </a:solidFill>
                <a:latin typeface="Calibri"/>
              </a:defRPr>
            </a:pPr>
            <a:r>
              <a:rPr lang="en-US" dirty="0"/>
              <a:t>Adjacency to Other AI Tasks Matters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0E542-91DE-5BBB-0A29-C3F501184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BEB8FC-D864-E280-A011-B5EA33819B99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Local Work Context Matters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41F5D5A-20E1-4213-0843-38357BA16BA7}"/>
              </a:ext>
            </a:extLst>
          </p:cNvPr>
          <p:cNvSpPr/>
          <p:nvPr/>
        </p:nvSpPr>
        <p:spPr>
          <a:xfrm>
            <a:off x="3702095" y="3735404"/>
            <a:ext cx="155448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E53DB1-3652-7D20-045C-FFCE1E196DF3}"/>
              </a:ext>
            </a:extLst>
          </p:cNvPr>
          <p:cNvSpPr txBox="1"/>
          <p:nvPr/>
        </p:nvSpPr>
        <p:spPr>
          <a:xfrm>
            <a:off x="3702095" y="3735404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5540ABE-2EB8-A708-1A41-72442A5AF6DE}"/>
              </a:ext>
            </a:extLst>
          </p:cNvPr>
          <p:cNvSpPr/>
          <p:nvPr/>
        </p:nvSpPr>
        <p:spPr>
          <a:xfrm>
            <a:off x="5759495" y="3735404"/>
            <a:ext cx="155448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A8D6D9-3423-5899-7486-78AB1D4B40B0}"/>
              </a:ext>
            </a:extLst>
          </p:cNvPr>
          <p:cNvSpPr txBox="1"/>
          <p:nvPr/>
        </p:nvSpPr>
        <p:spPr>
          <a:xfrm>
            <a:off x="5759495" y="3735404"/>
            <a:ext cx="1554480" cy="9143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X</a:t>
            </a:r>
            <a:endParaRPr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007693B-26DA-C9BD-E4FA-458F6B181323}"/>
              </a:ext>
            </a:extLst>
          </p:cNvPr>
          <p:cNvSpPr/>
          <p:nvPr/>
        </p:nvSpPr>
        <p:spPr>
          <a:xfrm>
            <a:off x="7816895" y="3735404"/>
            <a:ext cx="155448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9C67234-2C29-60A1-1AE2-0CFA54B67BB6}"/>
              </a:ext>
            </a:extLst>
          </p:cNvPr>
          <p:cNvSpPr txBox="1"/>
          <p:nvPr/>
        </p:nvSpPr>
        <p:spPr>
          <a:xfrm>
            <a:off x="7816895" y="3735404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D0EAFC-3B40-3D73-0EFA-8CD30BB769D8}"/>
              </a:ext>
            </a:extLst>
          </p:cNvPr>
          <p:cNvSpPr txBox="1"/>
          <p:nvPr/>
        </p:nvSpPr>
        <p:spPr>
          <a:xfrm>
            <a:off x="731520" y="1148316"/>
            <a:ext cx="10698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Execution mode of task depends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Classic view: characteristics of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Our view: characteristics of task + its neighbors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F1A630CA-8DD7-4583-0E1E-EAB247E8D04F}"/>
              </a:ext>
            </a:extLst>
          </p:cNvPr>
          <p:cNvSpPr/>
          <p:nvPr/>
        </p:nvSpPr>
        <p:spPr>
          <a:xfrm>
            <a:off x="3267755" y="408856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C9FECA9-D2D0-DE9B-6A54-4C0A542450D5}"/>
              </a:ext>
            </a:extLst>
          </p:cNvPr>
          <p:cNvSpPr/>
          <p:nvPr/>
        </p:nvSpPr>
        <p:spPr>
          <a:xfrm>
            <a:off x="5325155" y="408856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6C8EACB2-0879-690D-40B7-B74431D53641}"/>
              </a:ext>
            </a:extLst>
          </p:cNvPr>
          <p:cNvSpPr/>
          <p:nvPr/>
        </p:nvSpPr>
        <p:spPr>
          <a:xfrm>
            <a:off x="7382555" y="408856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1E055E4-436D-AABA-DB6D-8806EEA3699E}"/>
              </a:ext>
            </a:extLst>
          </p:cNvPr>
          <p:cNvSpPr/>
          <p:nvPr/>
        </p:nvSpPr>
        <p:spPr>
          <a:xfrm>
            <a:off x="9439955" y="4088564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26340-EFF0-85ED-5E83-A044E1962777}"/>
              </a:ext>
            </a:extLst>
          </p:cNvPr>
          <p:cNvSpPr txBox="1"/>
          <p:nvPr/>
        </p:nvSpPr>
        <p:spPr>
          <a:xfrm>
            <a:off x="2518867" y="3808742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995DD2-F65F-3BAA-30F4-7BD4E978D930}"/>
              </a:ext>
            </a:extLst>
          </p:cNvPr>
          <p:cNvSpPr txBox="1"/>
          <p:nvPr/>
        </p:nvSpPr>
        <p:spPr>
          <a:xfrm>
            <a:off x="9805715" y="3796176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365F1C4-5694-0BE1-820E-F8740244B79E}"/>
              </a:ext>
            </a:extLst>
          </p:cNvPr>
          <p:cNvSpPr/>
          <p:nvPr/>
        </p:nvSpPr>
        <p:spPr>
          <a:xfrm>
            <a:off x="3702095" y="5498738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4C3126-1B71-0557-74A4-C4F17C4E4FAB}"/>
              </a:ext>
            </a:extLst>
          </p:cNvPr>
          <p:cNvSpPr txBox="1"/>
          <p:nvPr/>
        </p:nvSpPr>
        <p:spPr>
          <a:xfrm>
            <a:off x="3702095" y="549873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B85896E-1B6F-5559-6D9B-8A6F724CE34E}"/>
              </a:ext>
            </a:extLst>
          </p:cNvPr>
          <p:cNvSpPr/>
          <p:nvPr/>
        </p:nvSpPr>
        <p:spPr>
          <a:xfrm>
            <a:off x="5759495" y="5498738"/>
            <a:ext cx="1554480" cy="9144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9ACA30-F56F-DEBB-DBA5-0411D2F47278}"/>
              </a:ext>
            </a:extLst>
          </p:cNvPr>
          <p:cNvSpPr txBox="1"/>
          <p:nvPr/>
        </p:nvSpPr>
        <p:spPr>
          <a:xfrm>
            <a:off x="5759495" y="5498737"/>
            <a:ext cx="1554480" cy="91440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X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D973026-1229-68DD-A109-0F32B042D31A}"/>
              </a:ext>
            </a:extLst>
          </p:cNvPr>
          <p:cNvSpPr/>
          <p:nvPr/>
        </p:nvSpPr>
        <p:spPr>
          <a:xfrm>
            <a:off x="7816895" y="5498738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82647F-2CC8-B9CA-1402-0AC7EB310206}"/>
              </a:ext>
            </a:extLst>
          </p:cNvPr>
          <p:cNvSpPr txBox="1"/>
          <p:nvPr/>
        </p:nvSpPr>
        <p:spPr>
          <a:xfrm>
            <a:off x="7816895" y="549873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8B804EC0-32F4-1CB2-C66D-4CA251C1333B}"/>
              </a:ext>
            </a:extLst>
          </p:cNvPr>
          <p:cNvSpPr/>
          <p:nvPr/>
        </p:nvSpPr>
        <p:spPr>
          <a:xfrm>
            <a:off x="32677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9E0D6172-DCD5-0DB8-2D46-3F6AEFD24A8D}"/>
              </a:ext>
            </a:extLst>
          </p:cNvPr>
          <p:cNvSpPr/>
          <p:nvPr/>
        </p:nvSpPr>
        <p:spPr>
          <a:xfrm>
            <a:off x="53251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61F49EC6-522B-9AC6-4781-932E9FDB98AE}"/>
              </a:ext>
            </a:extLst>
          </p:cNvPr>
          <p:cNvSpPr/>
          <p:nvPr/>
        </p:nvSpPr>
        <p:spPr>
          <a:xfrm>
            <a:off x="73825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F31B74B2-4C16-60AE-EFC1-74607FB8157F}"/>
              </a:ext>
            </a:extLst>
          </p:cNvPr>
          <p:cNvSpPr/>
          <p:nvPr/>
        </p:nvSpPr>
        <p:spPr>
          <a:xfrm>
            <a:off x="94399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AA7F95-47E0-CB73-05A1-E46BD4498ABC}"/>
              </a:ext>
            </a:extLst>
          </p:cNvPr>
          <p:cNvSpPr txBox="1"/>
          <p:nvPr/>
        </p:nvSpPr>
        <p:spPr>
          <a:xfrm>
            <a:off x="2518867" y="5572076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D044A1-1F1E-CA3F-09A9-598EC9E01C22}"/>
              </a:ext>
            </a:extLst>
          </p:cNvPr>
          <p:cNvSpPr txBox="1"/>
          <p:nvPr/>
        </p:nvSpPr>
        <p:spPr>
          <a:xfrm>
            <a:off x="9805715" y="5559510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E787EC-5E1B-C95E-EE4F-92EBCD1FB713}"/>
              </a:ext>
            </a:extLst>
          </p:cNvPr>
          <p:cNvSpPr txBox="1"/>
          <p:nvPr/>
        </p:nvSpPr>
        <p:spPr>
          <a:xfrm>
            <a:off x="965446" y="4034586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1: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6DA89C-3600-21A7-EC51-73FD34220484}"/>
              </a:ext>
            </a:extLst>
          </p:cNvPr>
          <p:cNvSpPr txBox="1"/>
          <p:nvPr/>
        </p:nvSpPr>
        <p:spPr>
          <a:xfrm>
            <a:off x="965446" y="5762849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</a:t>
            </a:r>
            <a:r>
              <a:rPr lang="en-US" b="1" dirty="0">
                <a:solidFill>
                  <a:srgbClr val="1A3E7A"/>
                </a:solidFill>
              </a:rPr>
              <a:t>2</a:t>
            </a:r>
            <a:r>
              <a:rPr b="1" dirty="0">
                <a:solidFill>
                  <a:srgbClr val="1A3E7A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78237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C254-C3EC-3EDE-7DBF-245665CDF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88783-9B76-B4A9-8E1F-6C952B340093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lang="en-US" dirty="0"/>
              <a:t>Local Work Context Matters (cont.)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620D902-3A53-B891-7A32-F86EA58381FA}"/>
              </a:ext>
            </a:extLst>
          </p:cNvPr>
          <p:cNvSpPr/>
          <p:nvPr/>
        </p:nvSpPr>
        <p:spPr>
          <a:xfrm>
            <a:off x="3702095" y="3740025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E20F3A-640F-E5F9-E524-99EABCB10E70}"/>
              </a:ext>
            </a:extLst>
          </p:cNvPr>
          <p:cNvSpPr txBox="1"/>
          <p:nvPr/>
        </p:nvSpPr>
        <p:spPr>
          <a:xfrm>
            <a:off x="3702095" y="3740025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A41C5B3-5D2A-FF9D-E3C8-D6423C2143BA}"/>
              </a:ext>
            </a:extLst>
          </p:cNvPr>
          <p:cNvSpPr/>
          <p:nvPr/>
        </p:nvSpPr>
        <p:spPr>
          <a:xfrm>
            <a:off x="5759495" y="3740025"/>
            <a:ext cx="1554480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7BD4CA-258F-6F0B-4B51-3959D0E1A74D}"/>
              </a:ext>
            </a:extLst>
          </p:cNvPr>
          <p:cNvSpPr txBox="1"/>
          <p:nvPr/>
        </p:nvSpPr>
        <p:spPr>
          <a:xfrm>
            <a:off x="5759495" y="3740024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X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(AI)</a:t>
            </a:r>
            <a:endParaRPr dirty="0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D5A3ED-C806-7BF5-0186-58F0E6CDD6A9}"/>
              </a:ext>
            </a:extLst>
          </p:cNvPr>
          <p:cNvSpPr/>
          <p:nvPr/>
        </p:nvSpPr>
        <p:spPr>
          <a:xfrm>
            <a:off x="7816895" y="3740025"/>
            <a:ext cx="1554480" cy="914400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5D1B77-8D8D-723B-6415-1F6B14759078}"/>
              </a:ext>
            </a:extLst>
          </p:cNvPr>
          <p:cNvSpPr txBox="1"/>
          <p:nvPr/>
        </p:nvSpPr>
        <p:spPr>
          <a:xfrm>
            <a:off x="7816895" y="3740025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01DA4-AF43-048D-3759-81AD310CCC05}"/>
              </a:ext>
            </a:extLst>
          </p:cNvPr>
          <p:cNvSpPr txBox="1"/>
          <p:nvPr/>
        </p:nvSpPr>
        <p:spPr>
          <a:xfrm>
            <a:off x="731520" y="1148316"/>
            <a:ext cx="106984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Execution mode of task depends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Classic view: characteristics of task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Our view: characteristics of task + its neighbors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Comparative advantage logic can </a:t>
            </a:r>
            <a:r>
              <a:rPr lang="en-US" sz="2800" i="1" dirty="0">
                <a:solidFill>
                  <a:srgbClr val="FF0000"/>
                </a:solidFill>
              </a:rPr>
              <a:t>potentially</a:t>
            </a:r>
            <a:r>
              <a:rPr lang="en-US" sz="2800" dirty="0">
                <a:solidFill>
                  <a:srgbClr val="FF0000"/>
                </a:solidFill>
              </a:rPr>
              <a:t> break down!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19E8FA29-70CB-EB20-0129-C87E4BA32840}"/>
              </a:ext>
            </a:extLst>
          </p:cNvPr>
          <p:cNvSpPr/>
          <p:nvPr/>
        </p:nvSpPr>
        <p:spPr>
          <a:xfrm>
            <a:off x="3267755" y="4093185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40E8CD15-4C16-513E-9339-047636BF13E9}"/>
              </a:ext>
            </a:extLst>
          </p:cNvPr>
          <p:cNvSpPr/>
          <p:nvPr/>
        </p:nvSpPr>
        <p:spPr>
          <a:xfrm>
            <a:off x="5325155" y="4093185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7368B06E-B674-46EC-2701-2C6728C84159}"/>
              </a:ext>
            </a:extLst>
          </p:cNvPr>
          <p:cNvSpPr/>
          <p:nvPr/>
        </p:nvSpPr>
        <p:spPr>
          <a:xfrm>
            <a:off x="7382555" y="4093185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A4D678F3-1F68-DDE8-DEF7-D625B1306E92}"/>
              </a:ext>
            </a:extLst>
          </p:cNvPr>
          <p:cNvSpPr/>
          <p:nvPr/>
        </p:nvSpPr>
        <p:spPr>
          <a:xfrm>
            <a:off x="9439955" y="4093185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3D7EDF-81B1-8B6B-7A3B-444CA5A51E5B}"/>
              </a:ext>
            </a:extLst>
          </p:cNvPr>
          <p:cNvSpPr txBox="1"/>
          <p:nvPr/>
        </p:nvSpPr>
        <p:spPr>
          <a:xfrm>
            <a:off x="2518867" y="3813363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51E5BE-1448-C353-A4FB-2FFFC09C9548}"/>
              </a:ext>
            </a:extLst>
          </p:cNvPr>
          <p:cNvSpPr txBox="1"/>
          <p:nvPr/>
        </p:nvSpPr>
        <p:spPr>
          <a:xfrm>
            <a:off x="9805715" y="3800797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FD3F117-6999-60FA-D9BC-37849DBC3D17}"/>
              </a:ext>
            </a:extLst>
          </p:cNvPr>
          <p:cNvSpPr/>
          <p:nvPr/>
        </p:nvSpPr>
        <p:spPr>
          <a:xfrm>
            <a:off x="3702095" y="5498738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579A55-5E00-0CEB-B451-2A34791F23E3}"/>
              </a:ext>
            </a:extLst>
          </p:cNvPr>
          <p:cNvSpPr txBox="1"/>
          <p:nvPr/>
        </p:nvSpPr>
        <p:spPr>
          <a:xfrm>
            <a:off x="3702095" y="549873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007C24A-1AAB-581D-5CBF-B062CA65B868}"/>
              </a:ext>
            </a:extLst>
          </p:cNvPr>
          <p:cNvSpPr/>
          <p:nvPr/>
        </p:nvSpPr>
        <p:spPr>
          <a:xfrm>
            <a:off x="5759495" y="5498738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F28CBE-6905-0F7F-3B53-4A2465323A37}"/>
              </a:ext>
            </a:extLst>
          </p:cNvPr>
          <p:cNvSpPr txBox="1"/>
          <p:nvPr/>
        </p:nvSpPr>
        <p:spPr>
          <a:xfrm>
            <a:off x="5759495" y="5498737"/>
            <a:ext cx="1554480" cy="914401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X</a:t>
            </a:r>
          </a:p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(Manual)</a:t>
            </a:r>
            <a:endParaRPr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57D2C4D-B02A-1C83-6B17-B84875240B7B}"/>
              </a:ext>
            </a:extLst>
          </p:cNvPr>
          <p:cNvSpPr/>
          <p:nvPr/>
        </p:nvSpPr>
        <p:spPr>
          <a:xfrm>
            <a:off x="7816895" y="5498738"/>
            <a:ext cx="1554480" cy="9144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AE1B6B-4F55-B712-827B-9B291913C0B4}"/>
              </a:ext>
            </a:extLst>
          </p:cNvPr>
          <p:cNvSpPr txBox="1"/>
          <p:nvPr/>
        </p:nvSpPr>
        <p:spPr>
          <a:xfrm>
            <a:off x="7816895" y="5498738"/>
            <a:ext cx="15544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5B5AA44D-EC7E-68FF-5C2C-B33E4C60920C}"/>
              </a:ext>
            </a:extLst>
          </p:cNvPr>
          <p:cNvSpPr/>
          <p:nvPr/>
        </p:nvSpPr>
        <p:spPr>
          <a:xfrm>
            <a:off x="32677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193BC51D-BF73-C230-F2B8-C64E3383C5AB}"/>
              </a:ext>
            </a:extLst>
          </p:cNvPr>
          <p:cNvSpPr/>
          <p:nvPr/>
        </p:nvSpPr>
        <p:spPr>
          <a:xfrm>
            <a:off x="53251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C908E62-7685-6435-547B-41D97551F6E8}"/>
              </a:ext>
            </a:extLst>
          </p:cNvPr>
          <p:cNvSpPr/>
          <p:nvPr/>
        </p:nvSpPr>
        <p:spPr>
          <a:xfrm>
            <a:off x="73825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C1F54AB6-8308-8764-9443-31A19C602F33}"/>
              </a:ext>
            </a:extLst>
          </p:cNvPr>
          <p:cNvSpPr/>
          <p:nvPr/>
        </p:nvSpPr>
        <p:spPr>
          <a:xfrm>
            <a:off x="9439955" y="5851898"/>
            <a:ext cx="365760" cy="219456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4190A4-1D4C-FE0A-A50C-F5EABC9CAC70}"/>
              </a:ext>
            </a:extLst>
          </p:cNvPr>
          <p:cNvSpPr txBox="1"/>
          <p:nvPr/>
        </p:nvSpPr>
        <p:spPr>
          <a:xfrm>
            <a:off x="2518867" y="5572076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4A072D-AF9C-C25C-F83B-DF8088DD4925}"/>
              </a:ext>
            </a:extLst>
          </p:cNvPr>
          <p:cNvSpPr txBox="1"/>
          <p:nvPr/>
        </p:nvSpPr>
        <p:spPr>
          <a:xfrm>
            <a:off x="9805715" y="5559510"/>
            <a:ext cx="7488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41128B-1F01-227A-BEBB-475B77488860}"/>
              </a:ext>
            </a:extLst>
          </p:cNvPr>
          <p:cNvSpPr/>
          <p:nvPr/>
        </p:nvSpPr>
        <p:spPr>
          <a:xfrm>
            <a:off x="3424255" y="3572380"/>
            <a:ext cx="6203010" cy="1305504"/>
          </a:xfrm>
          <a:prstGeom prst="rect">
            <a:avLst/>
          </a:prstGeom>
          <a:noFill/>
          <a:ln w="31750">
            <a:solidFill>
              <a:srgbClr val="00968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C9602E-87C7-9E82-3AAE-B9951BD4A99C}"/>
              </a:ext>
            </a:extLst>
          </p:cNvPr>
          <p:cNvSpPr txBox="1"/>
          <p:nvPr/>
        </p:nvSpPr>
        <p:spPr>
          <a:xfrm>
            <a:off x="965446" y="4034586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1: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08B35BC-A259-A30B-C269-CAA77FC90277}"/>
              </a:ext>
            </a:extLst>
          </p:cNvPr>
          <p:cNvSpPr txBox="1"/>
          <p:nvPr/>
        </p:nvSpPr>
        <p:spPr>
          <a:xfrm>
            <a:off x="965446" y="5762849"/>
            <a:ext cx="1508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1A3E7A"/>
                </a:solidFill>
              </a:rPr>
              <a:t>Occupation </a:t>
            </a:r>
            <a:r>
              <a:rPr lang="en-US" b="1" dirty="0">
                <a:solidFill>
                  <a:srgbClr val="1A3E7A"/>
                </a:solidFill>
              </a:rPr>
              <a:t>2</a:t>
            </a:r>
            <a:r>
              <a:rPr b="1" dirty="0">
                <a:solidFill>
                  <a:srgbClr val="1A3E7A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657060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The Productivity J-Curve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 i="1">
                <a:solidFill>
                  <a:srgbClr val="CADCFC"/>
                </a:solidFill>
                <a:latin typeface="Calibri"/>
              </a:defRPr>
            </a:pPr>
            <a:r>
              <a:t>Why AI investments seem to underperform — until they don't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0E4D-C663-7C11-5C4C-49AA4217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D63F66-1C6E-D4A0-22A2-CDC0C49181BA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t>AI Quality and Productivity: Non-Linear Gains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97197-BD1E-B166-87A7-087B4349715D}"/>
              </a:ext>
            </a:extLst>
          </p:cNvPr>
          <p:cNvSpPr txBox="1"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333333"/>
                </a:solidFill>
                <a:latin typeface="Calibri"/>
              </a:defRPr>
            </a:pPr>
            <a:r>
              <a:t>AI Quality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8E009B64-4ED6-EF02-0C0D-7C97C00005C5}"/>
              </a:ext>
            </a:extLst>
          </p:cNvPr>
          <p:cNvSpPr/>
          <p:nvPr/>
        </p:nvSpPr>
        <p:spPr>
          <a:xfrm>
            <a:off x="5633107" y="179954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9C83B6-2E36-83E6-6999-225AA0E94BC1}"/>
              </a:ext>
            </a:extLst>
          </p:cNvPr>
          <p:cNvSpPr txBox="1"/>
          <p:nvPr/>
        </p:nvSpPr>
        <p:spPr>
          <a:xfrm>
            <a:off x="5861213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A2B6B21-C66E-3259-29BC-42B59E28C7EC}"/>
              </a:ext>
            </a:extLst>
          </p:cNvPr>
          <p:cNvSpPr/>
          <p:nvPr/>
        </p:nvSpPr>
        <p:spPr>
          <a:xfrm>
            <a:off x="6095999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EB49B0-FE96-C8DE-0875-67565B056BC0}"/>
              </a:ext>
            </a:extLst>
          </p:cNvPr>
          <p:cNvSpPr txBox="1"/>
          <p:nvPr/>
        </p:nvSpPr>
        <p:spPr>
          <a:xfrm>
            <a:off x="6096000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0CEB1BAB-D35F-EDA1-0FD4-6C501F6DD343}"/>
              </a:ext>
            </a:extLst>
          </p:cNvPr>
          <p:cNvSpPr/>
          <p:nvPr/>
        </p:nvSpPr>
        <p:spPr>
          <a:xfrm>
            <a:off x="5633107" y="3448796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68FA259-345A-19EF-FE2E-F01B10756DC2}"/>
              </a:ext>
            </a:extLst>
          </p:cNvPr>
          <p:cNvSpPr/>
          <p:nvPr/>
        </p:nvSpPr>
        <p:spPr>
          <a:xfrm>
            <a:off x="6124648" y="3267582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48652E7-A90E-47E6-76D9-5BD485495B95}"/>
              </a:ext>
            </a:extLst>
          </p:cNvPr>
          <p:cNvSpPr txBox="1"/>
          <p:nvPr/>
        </p:nvSpPr>
        <p:spPr>
          <a:xfrm>
            <a:off x="6124648" y="3267582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B5E157-E80E-3107-23BB-41C2D84D230D}"/>
              </a:ext>
            </a:extLst>
          </p:cNvPr>
          <p:cNvSpPr txBox="1"/>
          <p:nvPr/>
        </p:nvSpPr>
        <p:spPr>
          <a:xfrm>
            <a:off x="5861213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3D87CDF-DA74-B064-E6BA-D68AFE8F2FD8}"/>
              </a:ext>
            </a:extLst>
          </p:cNvPr>
          <p:cNvSpPr/>
          <p:nvPr/>
        </p:nvSpPr>
        <p:spPr>
          <a:xfrm>
            <a:off x="5633107" y="5098048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CD2790-3FA6-BF0E-FADE-A11ABC8A51BA}"/>
              </a:ext>
            </a:extLst>
          </p:cNvPr>
          <p:cNvSpPr txBox="1"/>
          <p:nvPr/>
        </p:nvSpPr>
        <p:spPr>
          <a:xfrm>
            <a:off x="4189521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B091D1-1279-54AF-1415-0864E57E29B8}"/>
              </a:ext>
            </a:extLst>
          </p:cNvPr>
          <p:cNvSpPr txBox="1"/>
          <p:nvPr/>
        </p:nvSpPr>
        <p:spPr>
          <a:xfrm>
            <a:off x="4189521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E8FF91C-9A14-C377-6248-3C317EF32075}"/>
              </a:ext>
            </a:extLst>
          </p:cNvPr>
          <p:cNvSpPr/>
          <p:nvPr/>
        </p:nvSpPr>
        <p:spPr>
          <a:xfrm>
            <a:off x="4424307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FADBF5-EF6F-B2D6-FEBE-1A706B105DAA}"/>
              </a:ext>
            </a:extLst>
          </p:cNvPr>
          <p:cNvSpPr txBox="1"/>
          <p:nvPr/>
        </p:nvSpPr>
        <p:spPr>
          <a:xfrm>
            <a:off x="4424308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052BBF8-7278-5C98-9373-FB44062D5DDC}"/>
              </a:ext>
            </a:extLst>
          </p:cNvPr>
          <p:cNvSpPr txBox="1"/>
          <p:nvPr/>
        </p:nvSpPr>
        <p:spPr>
          <a:xfrm>
            <a:off x="4218170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B71B4162-08C2-DDD6-739C-5C2942A7BFF7}"/>
              </a:ext>
            </a:extLst>
          </p:cNvPr>
          <p:cNvSpPr/>
          <p:nvPr/>
        </p:nvSpPr>
        <p:spPr>
          <a:xfrm>
            <a:off x="4452956" y="3267582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D6BC94-04E2-D63B-8811-54CA1B014FA4}"/>
              </a:ext>
            </a:extLst>
          </p:cNvPr>
          <p:cNvSpPr txBox="1"/>
          <p:nvPr/>
        </p:nvSpPr>
        <p:spPr>
          <a:xfrm>
            <a:off x="4452957" y="3267582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8BEE274D-7D40-5F03-CA61-135AD21C412D}"/>
              </a:ext>
            </a:extLst>
          </p:cNvPr>
          <p:cNvSpPr/>
          <p:nvPr/>
        </p:nvSpPr>
        <p:spPr>
          <a:xfrm>
            <a:off x="6124648" y="4916834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16AC79-7A0F-7B39-6C2F-692EAB9F1ECD}"/>
              </a:ext>
            </a:extLst>
          </p:cNvPr>
          <p:cNvSpPr txBox="1"/>
          <p:nvPr/>
        </p:nvSpPr>
        <p:spPr>
          <a:xfrm>
            <a:off x="6124648" y="4916834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129ADD6-D1AA-082E-DFDC-946D9CEDC7BE}"/>
              </a:ext>
            </a:extLst>
          </p:cNvPr>
          <p:cNvSpPr txBox="1"/>
          <p:nvPr/>
        </p:nvSpPr>
        <p:spPr>
          <a:xfrm>
            <a:off x="5861213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B2788DD8-5197-8710-1E76-B9B58F184D5A}"/>
              </a:ext>
            </a:extLst>
          </p:cNvPr>
          <p:cNvSpPr/>
          <p:nvPr/>
        </p:nvSpPr>
        <p:spPr>
          <a:xfrm>
            <a:off x="4424306" y="4923070"/>
            <a:ext cx="1027611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97AEB9F-F10A-6B4F-49E4-0C22565A68AA}"/>
              </a:ext>
            </a:extLst>
          </p:cNvPr>
          <p:cNvSpPr txBox="1"/>
          <p:nvPr/>
        </p:nvSpPr>
        <p:spPr>
          <a:xfrm>
            <a:off x="4424307" y="492307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ADBC3D7-DCA8-58F3-14CB-EAD28C093A62}"/>
              </a:ext>
            </a:extLst>
          </p:cNvPr>
          <p:cNvSpPr/>
          <p:nvPr/>
        </p:nvSpPr>
        <p:spPr>
          <a:xfrm>
            <a:off x="1385740" y="1498862"/>
            <a:ext cx="716437" cy="4364610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rgbClr val="00B05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FC427FB3-EEF4-62AF-B005-57A88C4FC029}"/>
              </a:ext>
            </a:extLst>
          </p:cNvPr>
          <p:cNvSpPr txBox="1"/>
          <p:nvPr/>
        </p:nvSpPr>
        <p:spPr>
          <a:xfrm>
            <a:off x="4755861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BB3E28D7-1405-4593-63D5-6C445313E844}"/>
              </a:ext>
            </a:extLst>
          </p:cNvPr>
          <p:cNvSpPr txBox="1"/>
          <p:nvPr/>
        </p:nvSpPr>
        <p:spPr>
          <a:xfrm>
            <a:off x="6398904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1" name="Google Shape;197;p27">
            <a:extLst>
              <a:ext uri="{FF2B5EF4-FFF2-40B4-BE49-F238E27FC236}">
                <a16:creationId xmlns:a16="http://schemas.microsoft.com/office/drawing/2014/main" id="{39B16421-F9F8-78AB-AFB1-85BA31D5A58D}"/>
              </a:ext>
            </a:extLst>
          </p:cNvPr>
          <p:cNvSpPr txBox="1"/>
          <p:nvPr/>
        </p:nvSpPr>
        <p:spPr>
          <a:xfrm>
            <a:off x="9389738" y="1414505"/>
            <a:ext cx="97343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 = 100</a:t>
            </a:r>
            <a:endParaRPr sz="1900" dirty="0"/>
          </a:p>
        </p:txBody>
      </p:sp>
      <p:sp>
        <p:nvSpPr>
          <p:cNvPr id="82" name="Google Shape;197;p27">
            <a:extLst>
              <a:ext uri="{FF2B5EF4-FFF2-40B4-BE49-F238E27FC236}">
                <a16:creationId xmlns:a16="http://schemas.microsoft.com/office/drawing/2014/main" id="{D517982F-07D6-2146-6E6E-61B6CA3A45C7}"/>
              </a:ext>
            </a:extLst>
          </p:cNvPr>
          <p:cNvSpPr txBox="1"/>
          <p:nvPr/>
        </p:nvSpPr>
        <p:spPr>
          <a:xfrm>
            <a:off x="9014533" y="2115955"/>
            <a:ext cx="199659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 = 1000</a:t>
            </a:r>
            <a:endParaRPr sz="1900" dirty="0"/>
          </a:p>
        </p:txBody>
      </p:sp>
      <p:sp>
        <p:nvSpPr>
          <p:cNvPr id="84" name="Google Shape;197;p27">
            <a:extLst>
              <a:ext uri="{FF2B5EF4-FFF2-40B4-BE49-F238E27FC236}">
                <a16:creationId xmlns:a16="http://schemas.microsoft.com/office/drawing/2014/main" id="{F8C90F49-DBCB-D1F9-2D56-ED9A228A61E4}"/>
              </a:ext>
            </a:extLst>
          </p:cNvPr>
          <p:cNvSpPr txBox="1"/>
          <p:nvPr/>
        </p:nvSpPr>
        <p:spPr>
          <a:xfrm>
            <a:off x="4755861" y="2835594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5" name="Google Shape;197;p27">
            <a:extLst>
              <a:ext uri="{FF2B5EF4-FFF2-40B4-BE49-F238E27FC236}">
                <a16:creationId xmlns:a16="http://schemas.microsoft.com/office/drawing/2014/main" id="{729EA7A8-2F53-A15B-DCAF-7243C0DC2B6D}"/>
              </a:ext>
            </a:extLst>
          </p:cNvPr>
          <p:cNvSpPr txBox="1"/>
          <p:nvPr/>
        </p:nvSpPr>
        <p:spPr>
          <a:xfrm>
            <a:off x="6255492" y="2854518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6" name="Google Shape;197;p27">
            <a:extLst>
              <a:ext uri="{FF2B5EF4-FFF2-40B4-BE49-F238E27FC236}">
                <a16:creationId xmlns:a16="http://schemas.microsoft.com/office/drawing/2014/main" id="{A93424FA-9B00-27BA-5A16-4E2E4C84237F}"/>
              </a:ext>
            </a:extLst>
          </p:cNvPr>
          <p:cNvSpPr txBox="1"/>
          <p:nvPr/>
        </p:nvSpPr>
        <p:spPr>
          <a:xfrm>
            <a:off x="6255491" y="4493602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7" name="Google Shape;197;p27">
            <a:extLst>
              <a:ext uri="{FF2B5EF4-FFF2-40B4-BE49-F238E27FC236}">
                <a16:creationId xmlns:a16="http://schemas.microsoft.com/office/drawing/2014/main" id="{63393728-B24D-9E21-5D5E-F96C3F174B57}"/>
              </a:ext>
            </a:extLst>
          </p:cNvPr>
          <p:cNvSpPr txBox="1"/>
          <p:nvPr/>
        </p:nvSpPr>
        <p:spPr>
          <a:xfrm>
            <a:off x="4746065" y="4511947"/>
            <a:ext cx="4218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</a:t>
            </a:r>
            <a:endParaRPr sz="19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9B65E99-6444-99F4-2199-001F81A41D79}"/>
              </a:ext>
            </a:extLst>
          </p:cNvPr>
          <p:cNvSpPr txBox="1"/>
          <p:nvPr/>
        </p:nvSpPr>
        <p:spPr>
          <a:xfrm>
            <a:off x="913776" y="1370844"/>
            <a:ext cx="339365" cy="36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FDE754E-D077-6683-7F0B-D8435C3F115C}"/>
              </a:ext>
            </a:extLst>
          </p:cNvPr>
          <p:cNvSpPr txBox="1"/>
          <p:nvPr/>
        </p:nvSpPr>
        <p:spPr>
          <a:xfrm>
            <a:off x="734663" y="5601801"/>
            <a:ext cx="71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90" name="Left Arrow 89">
            <a:extLst>
              <a:ext uri="{FF2B5EF4-FFF2-40B4-BE49-F238E27FC236}">
                <a16:creationId xmlns:a16="http://schemas.microsoft.com/office/drawing/2014/main" id="{79B7DEB5-CC3A-E1E8-C20A-D093DBD04536}"/>
              </a:ext>
            </a:extLst>
          </p:cNvPr>
          <p:cNvSpPr/>
          <p:nvPr/>
        </p:nvSpPr>
        <p:spPr>
          <a:xfrm>
            <a:off x="2270048" y="1423047"/>
            <a:ext cx="582595" cy="338088"/>
          </a:xfrm>
          <a:prstGeom prst="lef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31240FD-8207-EBEE-CB74-40F5A83B4994}"/>
              </a:ext>
            </a:extLst>
          </p:cNvPr>
          <p:cNvSpPr txBox="1"/>
          <p:nvPr/>
        </p:nvSpPr>
        <p:spPr>
          <a:xfrm>
            <a:off x="7987613" y="4961392"/>
            <a:ext cx="405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Production Cost = 200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6A78FDE7-3C2C-0941-F97C-A3AAE051037E}"/>
              </a:ext>
            </a:extLst>
          </p:cNvPr>
          <p:cNvCxnSpPr/>
          <p:nvPr/>
        </p:nvCxnSpPr>
        <p:spPr>
          <a:xfrm>
            <a:off x="998617" y="3077094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0FEEC477-5F7C-70DD-30AF-F1EFB931F29E}"/>
              </a:ext>
            </a:extLst>
          </p:cNvPr>
          <p:cNvCxnSpPr/>
          <p:nvPr/>
        </p:nvCxnSpPr>
        <p:spPr>
          <a:xfrm>
            <a:off x="998617" y="5026872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1AE0103-66EB-15B6-9AC8-B0BC68C55605}"/>
              </a:ext>
            </a:extLst>
          </p:cNvPr>
          <p:cNvSpPr/>
          <p:nvPr/>
        </p:nvSpPr>
        <p:spPr>
          <a:xfrm>
            <a:off x="4232635" y="1205629"/>
            <a:ext cx="3143823" cy="135290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71064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E3A92-B2A6-4B55-CAEC-B8B5D4AAE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D210B-F152-F7B5-26C8-D64EDE053F00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t>AI Quality and Productivity: Non-Linear Gains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677041-47B1-5465-E942-3956ACD4B816}"/>
              </a:ext>
            </a:extLst>
          </p:cNvPr>
          <p:cNvSpPr txBox="1"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333333"/>
                </a:solidFill>
                <a:latin typeface="Calibri"/>
              </a:defRPr>
            </a:pPr>
            <a:r>
              <a:t>AI Quality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FB4BB053-20C6-0181-11DC-25F61FCC9F18}"/>
              </a:ext>
            </a:extLst>
          </p:cNvPr>
          <p:cNvSpPr/>
          <p:nvPr/>
        </p:nvSpPr>
        <p:spPr>
          <a:xfrm>
            <a:off x="5633107" y="179954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583E88-C4F3-5352-35A5-F16051A8C3EB}"/>
              </a:ext>
            </a:extLst>
          </p:cNvPr>
          <p:cNvSpPr txBox="1"/>
          <p:nvPr/>
        </p:nvSpPr>
        <p:spPr>
          <a:xfrm>
            <a:off x="5861213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92F42B0-BFE5-11F9-30DD-38DE974A89FF}"/>
              </a:ext>
            </a:extLst>
          </p:cNvPr>
          <p:cNvSpPr/>
          <p:nvPr/>
        </p:nvSpPr>
        <p:spPr>
          <a:xfrm>
            <a:off x="6095999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B0D65C-E6B3-4D4A-0E27-EE37C3103C4F}"/>
              </a:ext>
            </a:extLst>
          </p:cNvPr>
          <p:cNvSpPr txBox="1"/>
          <p:nvPr/>
        </p:nvSpPr>
        <p:spPr>
          <a:xfrm>
            <a:off x="6096000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599ED4A0-AC45-53CC-5055-AA66122A4839}"/>
              </a:ext>
            </a:extLst>
          </p:cNvPr>
          <p:cNvSpPr/>
          <p:nvPr/>
        </p:nvSpPr>
        <p:spPr>
          <a:xfrm>
            <a:off x="5633107" y="3448796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83A5BB2-81F2-A408-9C8D-41A566D8DB58}"/>
              </a:ext>
            </a:extLst>
          </p:cNvPr>
          <p:cNvSpPr/>
          <p:nvPr/>
        </p:nvSpPr>
        <p:spPr>
          <a:xfrm>
            <a:off x="6124648" y="3267582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D4B2B0-58B0-E7D2-3672-866B1C4B2408}"/>
              </a:ext>
            </a:extLst>
          </p:cNvPr>
          <p:cNvSpPr txBox="1"/>
          <p:nvPr/>
        </p:nvSpPr>
        <p:spPr>
          <a:xfrm>
            <a:off x="6124648" y="3267582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90890C-275B-4128-A524-514230947A96}"/>
              </a:ext>
            </a:extLst>
          </p:cNvPr>
          <p:cNvSpPr txBox="1"/>
          <p:nvPr/>
        </p:nvSpPr>
        <p:spPr>
          <a:xfrm>
            <a:off x="5861213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3C385E9A-57B7-A545-000F-66C8812C658E}"/>
              </a:ext>
            </a:extLst>
          </p:cNvPr>
          <p:cNvSpPr/>
          <p:nvPr/>
        </p:nvSpPr>
        <p:spPr>
          <a:xfrm>
            <a:off x="5633107" y="5098048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20EF8AF-2009-23FF-7303-E0946605F023}"/>
              </a:ext>
            </a:extLst>
          </p:cNvPr>
          <p:cNvSpPr txBox="1"/>
          <p:nvPr/>
        </p:nvSpPr>
        <p:spPr>
          <a:xfrm>
            <a:off x="4189521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571F3C-F73C-70E5-E4A8-04927C571508}"/>
              </a:ext>
            </a:extLst>
          </p:cNvPr>
          <p:cNvSpPr txBox="1"/>
          <p:nvPr/>
        </p:nvSpPr>
        <p:spPr>
          <a:xfrm>
            <a:off x="4189521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3F97ECBE-63F6-80B0-3611-EF539D4CDD26}"/>
              </a:ext>
            </a:extLst>
          </p:cNvPr>
          <p:cNvSpPr/>
          <p:nvPr/>
        </p:nvSpPr>
        <p:spPr>
          <a:xfrm>
            <a:off x="4424307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9785CA-EC3B-BC59-263D-6253FDA0861E}"/>
              </a:ext>
            </a:extLst>
          </p:cNvPr>
          <p:cNvSpPr txBox="1"/>
          <p:nvPr/>
        </p:nvSpPr>
        <p:spPr>
          <a:xfrm>
            <a:off x="4424308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988C77-2267-1B2E-A5E0-3A2CABE6394B}"/>
              </a:ext>
            </a:extLst>
          </p:cNvPr>
          <p:cNvSpPr txBox="1"/>
          <p:nvPr/>
        </p:nvSpPr>
        <p:spPr>
          <a:xfrm>
            <a:off x="4218170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C4684978-2578-F3F8-7186-C0D5E82F7477}"/>
              </a:ext>
            </a:extLst>
          </p:cNvPr>
          <p:cNvSpPr/>
          <p:nvPr/>
        </p:nvSpPr>
        <p:spPr>
          <a:xfrm>
            <a:off x="4452956" y="3267582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DA1475-B0D9-6AA9-E5AB-779B93AC6DAE}"/>
              </a:ext>
            </a:extLst>
          </p:cNvPr>
          <p:cNvSpPr txBox="1"/>
          <p:nvPr/>
        </p:nvSpPr>
        <p:spPr>
          <a:xfrm>
            <a:off x="4452957" y="3267582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9741EF4-4750-2A93-D664-D449C6A9E1D1}"/>
              </a:ext>
            </a:extLst>
          </p:cNvPr>
          <p:cNvSpPr/>
          <p:nvPr/>
        </p:nvSpPr>
        <p:spPr>
          <a:xfrm>
            <a:off x="6124648" y="4916834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BA795FA-BC14-2F0B-BBB7-325979622D57}"/>
              </a:ext>
            </a:extLst>
          </p:cNvPr>
          <p:cNvSpPr txBox="1"/>
          <p:nvPr/>
        </p:nvSpPr>
        <p:spPr>
          <a:xfrm>
            <a:off x="6124648" y="4916834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8F74B8-587C-C07D-655D-B2CD64F35A8A}"/>
              </a:ext>
            </a:extLst>
          </p:cNvPr>
          <p:cNvSpPr txBox="1"/>
          <p:nvPr/>
        </p:nvSpPr>
        <p:spPr>
          <a:xfrm>
            <a:off x="5861213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A3E7AA3-ECBF-80C9-63DD-D643A73A5245}"/>
              </a:ext>
            </a:extLst>
          </p:cNvPr>
          <p:cNvSpPr/>
          <p:nvPr/>
        </p:nvSpPr>
        <p:spPr>
          <a:xfrm>
            <a:off x="4424306" y="4923070"/>
            <a:ext cx="1027611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1B2FA0-E391-507D-CF28-020FAA8E3D3E}"/>
              </a:ext>
            </a:extLst>
          </p:cNvPr>
          <p:cNvSpPr txBox="1"/>
          <p:nvPr/>
        </p:nvSpPr>
        <p:spPr>
          <a:xfrm>
            <a:off x="4424307" y="492307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726D630-1CE5-24C8-B6BE-E78A0FE560B6}"/>
              </a:ext>
            </a:extLst>
          </p:cNvPr>
          <p:cNvSpPr/>
          <p:nvPr/>
        </p:nvSpPr>
        <p:spPr>
          <a:xfrm>
            <a:off x="1385740" y="1498862"/>
            <a:ext cx="716437" cy="4364610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rgbClr val="00B05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B366A859-BDF5-E2E9-466A-34BDAF2EC854}"/>
              </a:ext>
            </a:extLst>
          </p:cNvPr>
          <p:cNvSpPr txBox="1"/>
          <p:nvPr/>
        </p:nvSpPr>
        <p:spPr>
          <a:xfrm>
            <a:off x="4755861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33814DB3-204C-6F23-072C-1D89556CB5AB}"/>
              </a:ext>
            </a:extLst>
          </p:cNvPr>
          <p:cNvSpPr txBox="1"/>
          <p:nvPr/>
        </p:nvSpPr>
        <p:spPr>
          <a:xfrm>
            <a:off x="6398904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1" name="Google Shape;197;p27">
            <a:extLst>
              <a:ext uri="{FF2B5EF4-FFF2-40B4-BE49-F238E27FC236}">
                <a16:creationId xmlns:a16="http://schemas.microsoft.com/office/drawing/2014/main" id="{C8907414-BE7F-7083-B1A0-E21A5EFAB788}"/>
              </a:ext>
            </a:extLst>
          </p:cNvPr>
          <p:cNvSpPr txBox="1"/>
          <p:nvPr/>
        </p:nvSpPr>
        <p:spPr>
          <a:xfrm>
            <a:off x="9389738" y="1414505"/>
            <a:ext cx="97343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 = 100</a:t>
            </a:r>
            <a:endParaRPr sz="1900" dirty="0"/>
          </a:p>
        </p:txBody>
      </p:sp>
      <p:sp>
        <p:nvSpPr>
          <p:cNvPr id="82" name="Google Shape;197;p27">
            <a:extLst>
              <a:ext uri="{FF2B5EF4-FFF2-40B4-BE49-F238E27FC236}">
                <a16:creationId xmlns:a16="http://schemas.microsoft.com/office/drawing/2014/main" id="{20882B39-BA19-92C1-B29A-79E003878B4C}"/>
              </a:ext>
            </a:extLst>
          </p:cNvPr>
          <p:cNvSpPr txBox="1"/>
          <p:nvPr/>
        </p:nvSpPr>
        <p:spPr>
          <a:xfrm>
            <a:off x="9014533" y="2115955"/>
            <a:ext cx="199659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 = 500</a:t>
            </a:r>
            <a:endParaRPr sz="1900" dirty="0"/>
          </a:p>
        </p:txBody>
      </p:sp>
      <p:sp>
        <p:nvSpPr>
          <p:cNvPr id="84" name="Google Shape;197;p27">
            <a:extLst>
              <a:ext uri="{FF2B5EF4-FFF2-40B4-BE49-F238E27FC236}">
                <a16:creationId xmlns:a16="http://schemas.microsoft.com/office/drawing/2014/main" id="{5C7B4344-45E6-F194-99AD-8F7C051F629E}"/>
              </a:ext>
            </a:extLst>
          </p:cNvPr>
          <p:cNvSpPr txBox="1"/>
          <p:nvPr/>
        </p:nvSpPr>
        <p:spPr>
          <a:xfrm>
            <a:off x="4755861" y="2835594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5" name="Google Shape;197;p27">
            <a:extLst>
              <a:ext uri="{FF2B5EF4-FFF2-40B4-BE49-F238E27FC236}">
                <a16:creationId xmlns:a16="http://schemas.microsoft.com/office/drawing/2014/main" id="{2DEEE52C-A5E7-1DBE-3F3A-FD3C3B2795D7}"/>
              </a:ext>
            </a:extLst>
          </p:cNvPr>
          <p:cNvSpPr txBox="1"/>
          <p:nvPr/>
        </p:nvSpPr>
        <p:spPr>
          <a:xfrm>
            <a:off x="6255492" y="2854518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6" name="Google Shape;197;p27">
            <a:extLst>
              <a:ext uri="{FF2B5EF4-FFF2-40B4-BE49-F238E27FC236}">
                <a16:creationId xmlns:a16="http://schemas.microsoft.com/office/drawing/2014/main" id="{867179F2-BB41-5F01-F7A2-C93D58C68D0C}"/>
              </a:ext>
            </a:extLst>
          </p:cNvPr>
          <p:cNvSpPr txBox="1"/>
          <p:nvPr/>
        </p:nvSpPr>
        <p:spPr>
          <a:xfrm>
            <a:off x="6255491" y="4493602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7" name="Google Shape;197;p27">
            <a:extLst>
              <a:ext uri="{FF2B5EF4-FFF2-40B4-BE49-F238E27FC236}">
                <a16:creationId xmlns:a16="http://schemas.microsoft.com/office/drawing/2014/main" id="{89499B36-4BBB-D262-87A0-1F07F6C1AAF6}"/>
              </a:ext>
            </a:extLst>
          </p:cNvPr>
          <p:cNvSpPr txBox="1"/>
          <p:nvPr/>
        </p:nvSpPr>
        <p:spPr>
          <a:xfrm>
            <a:off x="4746065" y="4511947"/>
            <a:ext cx="4218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</a:t>
            </a:r>
            <a:endParaRPr sz="19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0D28C1E-3D00-2B5F-45B9-718FEAC54B0B}"/>
              </a:ext>
            </a:extLst>
          </p:cNvPr>
          <p:cNvSpPr txBox="1"/>
          <p:nvPr/>
        </p:nvSpPr>
        <p:spPr>
          <a:xfrm>
            <a:off x="913776" y="1370844"/>
            <a:ext cx="339365" cy="36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89DA3B3-6524-9D77-2102-D8F6B8C3F43F}"/>
              </a:ext>
            </a:extLst>
          </p:cNvPr>
          <p:cNvSpPr txBox="1"/>
          <p:nvPr/>
        </p:nvSpPr>
        <p:spPr>
          <a:xfrm>
            <a:off x="734663" y="5601801"/>
            <a:ext cx="71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90" name="Left Arrow 89">
            <a:extLst>
              <a:ext uri="{FF2B5EF4-FFF2-40B4-BE49-F238E27FC236}">
                <a16:creationId xmlns:a16="http://schemas.microsoft.com/office/drawing/2014/main" id="{EB38DB1D-D946-9532-DF2B-35CD3B8533D1}"/>
              </a:ext>
            </a:extLst>
          </p:cNvPr>
          <p:cNvSpPr/>
          <p:nvPr/>
        </p:nvSpPr>
        <p:spPr>
          <a:xfrm>
            <a:off x="2251733" y="2239289"/>
            <a:ext cx="582595" cy="338088"/>
          </a:xfrm>
          <a:prstGeom prst="lef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76535-1208-9991-490D-71B04329523E}"/>
              </a:ext>
            </a:extLst>
          </p:cNvPr>
          <p:cNvSpPr txBox="1"/>
          <p:nvPr/>
        </p:nvSpPr>
        <p:spPr>
          <a:xfrm>
            <a:off x="7987613" y="4961392"/>
            <a:ext cx="405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Production Cost = 200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92DAF9-1C3D-7013-7083-F4B6BA1F2936}"/>
              </a:ext>
            </a:extLst>
          </p:cNvPr>
          <p:cNvCxnSpPr/>
          <p:nvPr/>
        </p:nvCxnSpPr>
        <p:spPr>
          <a:xfrm>
            <a:off x="998617" y="3077094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08A52-D043-8AA0-0153-0AE59B99E490}"/>
              </a:ext>
            </a:extLst>
          </p:cNvPr>
          <p:cNvCxnSpPr/>
          <p:nvPr/>
        </p:nvCxnSpPr>
        <p:spPr>
          <a:xfrm>
            <a:off x="998617" y="5026872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2AFEB73-C804-5C6B-EDA6-2B7B3147927C}"/>
              </a:ext>
            </a:extLst>
          </p:cNvPr>
          <p:cNvSpPr/>
          <p:nvPr/>
        </p:nvSpPr>
        <p:spPr>
          <a:xfrm>
            <a:off x="4232635" y="1205629"/>
            <a:ext cx="3143823" cy="135290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35647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AC11-92B5-6B2F-CEC2-AA156F704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D889FA-4974-DEF0-1541-4EB536C6F0B3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t>AI Quality and Productivity: Non-Linear Gains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998E1-ECBC-14FD-A733-C419A7D0EA43}"/>
              </a:ext>
            </a:extLst>
          </p:cNvPr>
          <p:cNvSpPr txBox="1"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333333"/>
                </a:solidFill>
                <a:latin typeface="Calibri"/>
              </a:defRPr>
            </a:pPr>
            <a:r>
              <a:t>AI Quality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F1164C1F-ECBC-C98E-2AF4-9134CEA4417A}"/>
              </a:ext>
            </a:extLst>
          </p:cNvPr>
          <p:cNvSpPr/>
          <p:nvPr/>
        </p:nvSpPr>
        <p:spPr>
          <a:xfrm>
            <a:off x="5633107" y="179954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8F840E-5A89-FC5C-BCDD-374C9B24CEB3}"/>
              </a:ext>
            </a:extLst>
          </p:cNvPr>
          <p:cNvSpPr txBox="1"/>
          <p:nvPr/>
        </p:nvSpPr>
        <p:spPr>
          <a:xfrm>
            <a:off x="5861213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FDA45F6-347E-A127-06DF-3F31AE8AB29E}"/>
              </a:ext>
            </a:extLst>
          </p:cNvPr>
          <p:cNvSpPr/>
          <p:nvPr/>
        </p:nvSpPr>
        <p:spPr>
          <a:xfrm>
            <a:off x="6095999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5B5558-2A65-EC65-98A0-C26E07629984}"/>
              </a:ext>
            </a:extLst>
          </p:cNvPr>
          <p:cNvSpPr txBox="1"/>
          <p:nvPr/>
        </p:nvSpPr>
        <p:spPr>
          <a:xfrm>
            <a:off x="6096000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5F4B22CC-82E8-3271-9A84-5F3505796E55}"/>
              </a:ext>
            </a:extLst>
          </p:cNvPr>
          <p:cNvSpPr/>
          <p:nvPr/>
        </p:nvSpPr>
        <p:spPr>
          <a:xfrm>
            <a:off x="5633107" y="3448796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D44F95F-2F6D-0F65-E3D0-86CA56FF6723}"/>
              </a:ext>
            </a:extLst>
          </p:cNvPr>
          <p:cNvSpPr/>
          <p:nvPr/>
        </p:nvSpPr>
        <p:spPr>
          <a:xfrm>
            <a:off x="6124648" y="3267582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627768-6E4C-7961-9287-70748AA98480}"/>
              </a:ext>
            </a:extLst>
          </p:cNvPr>
          <p:cNvSpPr txBox="1"/>
          <p:nvPr/>
        </p:nvSpPr>
        <p:spPr>
          <a:xfrm>
            <a:off x="6124648" y="3267582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0407A5-AA28-66FA-5036-BD465B4424FF}"/>
              </a:ext>
            </a:extLst>
          </p:cNvPr>
          <p:cNvSpPr txBox="1"/>
          <p:nvPr/>
        </p:nvSpPr>
        <p:spPr>
          <a:xfrm>
            <a:off x="5861213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768811A0-E42D-4571-A14E-8A5E02040316}"/>
              </a:ext>
            </a:extLst>
          </p:cNvPr>
          <p:cNvSpPr/>
          <p:nvPr/>
        </p:nvSpPr>
        <p:spPr>
          <a:xfrm>
            <a:off x="5633107" y="5098048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D9DCE4-CBDF-6F4E-7450-07E45ED732DC}"/>
              </a:ext>
            </a:extLst>
          </p:cNvPr>
          <p:cNvSpPr txBox="1"/>
          <p:nvPr/>
        </p:nvSpPr>
        <p:spPr>
          <a:xfrm>
            <a:off x="4189521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919073-8341-AFE5-25C5-80072BCD44C3}"/>
              </a:ext>
            </a:extLst>
          </p:cNvPr>
          <p:cNvSpPr txBox="1"/>
          <p:nvPr/>
        </p:nvSpPr>
        <p:spPr>
          <a:xfrm>
            <a:off x="4189521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BAB9A09E-C465-C9F2-B28A-0658C79B9F50}"/>
              </a:ext>
            </a:extLst>
          </p:cNvPr>
          <p:cNvSpPr/>
          <p:nvPr/>
        </p:nvSpPr>
        <p:spPr>
          <a:xfrm>
            <a:off x="4424307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D382D75-68B4-F70E-CFA0-9A89AD9D4C6D}"/>
              </a:ext>
            </a:extLst>
          </p:cNvPr>
          <p:cNvSpPr txBox="1"/>
          <p:nvPr/>
        </p:nvSpPr>
        <p:spPr>
          <a:xfrm>
            <a:off x="4424308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DF6419E-61DE-5EB2-3AE1-E77FC797005D}"/>
              </a:ext>
            </a:extLst>
          </p:cNvPr>
          <p:cNvSpPr txBox="1"/>
          <p:nvPr/>
        </p:nvSpPr>
        <p:spPr>
          <a:xfrm>
            <a:off x="4218170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41ED959A-21F5-1E0B-5AB8-774DD5715D9C}"/>
              </a:ext>
            </a:extLst>
          </p:cNvPr>
          <p:cNvSpPr/>
          <p:nvPr/>
        </p:nvSpPr>
        <p:spPr>
          <a:xfrm>
            <a:off x="4452956" y="3267582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8ADA79-85BE-CCDC-8014-9377E7D92134}"/>
              </a:ext>
            </a:extLst>
          </p:cNvPr>
          <p:cNvSpPr txBox="1"/>
          <p:nvPr/>
        </p:nvSpPr>
        <p:spPr>
          <a:xfrm>
            <a:off x="4452957" y="3267582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CB9F827-6238-4BDD-6C11-2991FD5D151C}"/>
              </a:ext>
            </a:extLst>
          </p:cNvPr>
          <p:cNvSpPr/>
          <p:nvPr/>
        </p:nvSpPr>
        <p:spPr>
          <a:xfrm>
            <a:off x="6124648" y="4916834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E56C10-2866-FBC2-2355-DBF46CA26D35}"/>
              </a:ext>
            </a:extLst>
          </p:cNvPr>
          <p:cNvSpPr txBox="1"/>
          <p:nvPr/>
        </p:nvSpPr>
        <p:spPr>
          <a:xfrm>
            <a:off x="6124648" y="4916834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8650F10-2417-374D-7381-0618BFDA96A8}"/>
              </a:ext>
            </a:extLst>
          </p:cNvPr>
          <p:cNvSpPr txBox="1"/>
          <p:nvPr/>
        </p:nvSpPr>
        <p:spPr>
          <a:xfrm>
            <a:off x="5861213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D34B7C0C-3BB2-2211-4599-BDCA6DDFCF5B}"/>
              </a:ext>
            </a:extLst>
          </p:cNvPr>
          <p:cNvSpPr/>
          <p:nvPr/>
        </p:nvSpPr>
        <p:spPr>
          <a:xfrm>
            <a:off x="4424306" y="4923070"/>
            <a:ext cx="1027611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2CC899-40D6-B0D7-BA37-074AD98BAE1A}"/>
              </a:ext>
            </a:extLst>
          </p:cNvPr>
          <p:cNvSpPr txBox="1"/>
          <p:nvPr/>
        </p:nvSpPr>
        <p:spPr>
          <a:xfrm>
            <a:off x="4424307" y="492307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80051A8-B295-C0D7-3579-7028A6603E06}"/>
              </a:ext>
            </a:extLst>
          </p:cNvPr>
          <p:cNvSpPr/>
          <p:nvPr/>
        </p:nvSpPr>
        <p:spPr>
          <a:xfrm>
            <a:off x="1385740" y="1498862"/>
            <a:ext cx="716437" cy="4364610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rgbClr val="00B05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0997F02E-6F09-1C36-272A-4AA13267AF11}"/>
              </a:ext>
            </a:extLst>
          </p:cNvPr>
          <p:cNvSpPr txBox="1"/>
          <p:nvPr/>
        </p:nvSpPr>
        <p:spPr>
          <a:xfrm>
            <a:off x="4755861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147775A4-28E1-C1A9-141A-481837825222}"/>
              </a:ext>
            </a:extLst>
          </p:cNvPr>
          <p:cNvSpPr txBox="1"/>
          <p:nvPr/>
        </p:nvSpPr>
        <p:spPr>
          <a:xfrm>
            <a:off x="6398904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1" name="Google Shape;197;p27">
            <a:extLst>
              <a:ext uri="{FF2B5EF4-FFF2-40B4-BE49-F238E27FC236}">
                <a16:creationId xmlns:a16="http://schemas.microsoft.com/office/drawing/2014/main" id="{5F2BA7CF-E848-2552-851E-0A702467460C}"/>
              </a:ext>
            </a:extLst>
          </p:cNvPr>
          <p:cNvSpPr txBox="1"/>
          <p:nvPr/>
        </p:nvSpPr>
        <p:spPr>
          <a:xfrm>
            <a:off x="9389738" y="1414505"/>
            <a:ext cx="97343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 = 100</a:t>
            </a:r>
            <a:endParaRPr sz="1900" dirty="0"/>
          </a:p>
        </p:txBody>
      </p:sp>
      <p:sp>
        <p:nvSpPr>
          <p:cNvPr id="82" name="Google Shape;197;p27">
            <a:extLst>
              <a:ext uri="{FF2B5EF4-FFF2-40B4-BE49-F238E27FC236}">
                <a16:creationId xmlns:a16="http://schemas.microsoft.com/office/drawing/2014/main" id="{DFE50E0D-C359-C996-3594-7A2999A99E1F}"/>
              </a:ext>
            </a:extLst>
          </p:cNvPr>
          <p:cNvSpPr txBox="1"/>
          <p:nvPr/>
        </p:nvSpPr>
        <p:spPr>
          <a:xfrm>
            <a:off x="9014533" y="2115955"/>
            <a:ext cx="199659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 = 75</a:t>
            </a:r>
            <a:endParaRPr sz="1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C315159-FA52-46BF-0823-FFDBC9D4BEA9}"/>
              </a:ext>
            </a:extLst>
          </p:cNvPr>
          <p:cNvSpPr txBox="1"/>
          <p:nvPr/>
        </p:nvSpPr>
        <p:spPr>
          <a:xfrm>
            <a:off x="7987613" y="4961392"/>
            <a:ext cx="405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Production Cost = 175</a:t>
            </a:r>
          </a:p>
        </p:txBody>
      </p:sp>
      <p:sp>
        <p:nvSpPr>
          <p:cNvPr id="84" name="Google Shape;197;p27">
            <a:extLst>
              <a:ext uri="{FF2B5EF4-FFF2-40B4-BE49-F238E27FC236}">
                <a16:creationId xmlns:a16="http://schemas.microsoft.com/office/drawing/2014/main" id="{4C394A5F-90EE-4377-77F4-E18DE1CEF8C5}"/>
              </a:ext>
            </a:extLst>
          </p:cNvPr>
          <p:cNvSpPr txBox="1"/>
          <p:nvPr/>
        </p:nvSpPr>
        <p:spPr>
          <a:xfrm>
            <a:off x="4755861" y="2835594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5" name="Google Shape;197;p27">
            <a:extLst>
              <a:ext uri="{FF2B5EF4-FFF2-40B4-BE49-F238E27FC236}">
                <a16:creationId xmlns:a16="http://schemas.microsoft.com/office/drawing/2014/main" id="{1D226CA0-4744-3C1F-439F-E992386D1AC5}"/>
              </a:ext>
            </a:extLst>
          </p:cNvPr>
          <p:cNvSpPr txBox="1"/>
          <p:nvPr/>
        </p:nvSpPr>
        <p:spPr>
          <a:xfrm>
            <a:off x="6255492" y="2854518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6" name="Google Shape;197;p27">
            <a:extLst>
              <a:ext uri="{FF2B5EF4-FFF2-40B4-BE49-F238E27FC236}">
                <a16:creationId xmlns:a16="http://schemas.microsoft.com/office/drawing/2014/main" id="{A2CD384E-5FEB-8982-D6EB-F06203101AFF}"/>
              </a:ext>
            </a:extLst>
          </p:cNvPr>
          <p:cNvSpPr txBox="1"/>
          <p:nvPr/>
        </p:nvSpPr>
        <p:spPr>
          <a:xfrm>
            <a:off x="6255491" y="4493602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7" name="Google Shape;197;p27">
            <a:extLst>
              <a:ext uri="{FF2B5EF4-FFF2-40B4-BE49-F238E27FC236}">
                <a16:creationId xmlns:a16="http://schemas.microsoft.com/office/drawing/2014/main" id="{57B8D50F-3208-34D5-890D-4FC5CABCCA09}"/>
              </a:ext>
            </a:extLst>
          </p:cNvPr>
          <p:cNvSpPr txBox="1"/>
          <p:nvPr/>
        </p:nvSpPr>
        <p:spPr>
          <a:xfrm>
            <a:off x="4746065" y="4511947"/>
            <a:ext cx="4218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</a:t>
            </a:r>
            <a:endParaRPr sz="19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796AC3-A7B9-52C5-7205-9FD1483D0511}"/>
              </a:ext>
            </a:extLst>
          </p:cNvPr>
          <p:cNvSpPr txBox="1"/>
          <p:nvPr/>
        </p:nvSpPr>
        <p:spPr>
          <a:xfrm>
            <a:off x="913776" y="1370844"/>
            <a:ext cx="339365" cy="36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A55BFC2-F336-9CD4-FB0D-84DDFD2A1CB3}"/>
              </a:ext>
            </a:extLst>
          </p:cNvPr>
          <p:cNvSpPr txBox="1"/>
          <p:nvPr/>
        </p:nvSpPr>
        <p:spPr>
          <a:xfrm>
            <a:off x="734663" y="5601801"/>
            <a:ext cx="71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90" name="Left Arrow 89">
            <a:extLst>
              <a:ext uri="{FF2B5EF4-FFF2-40B4-BE49-F238E27FC236}">
                <a16:creationId xmlns:a16="http://schemas.microsoft.com/office/drawing/2014/main" id="{9A99F4D2-7B2F-008C-2933-880D3D0BE078}"/>
              </a:ext>
            </a:extLst>
          </p:cNvPr>
          <p:cNvSpPr/>
          <p:nvPr/>
        </p:nvSpPr>
        <p:spPr>
          <a:xfrm>
            <a:off x="2283366" y="3465964"/>
            <a:ext cx="582595" cy="338088"/>
          </a:xfrm>
          <a:prstGeom prst="lef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58A697-DEC7-0C7E-16AD-546F8D42EFD6}"/>
              </a:ext>
            </a:extLst>
          </p:cNvPr>
          <p:cNvCxnSpPr/>
          <p:nvPr/>
        </p:nvCxnSpPr>
        <p:spPr>
          <a:xfrm>
            <a:off x="998617" y="5026872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BB6688-866D-1447-7A41-D4D810874EBB}"/>
              </a:ext>
            </a:extLst>
          </p:cNvPr>
          <p:cNvCxnSpPr/>
          <p:nvPr/>
        </p:nvCxnSpPr>
        <p:spPr>
          <a:xfrm>
            <a:off x="998617" y="3077094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DE9001F-10B6-E05B-564F-975153187D16}"/>
              </a:ext>
            </a:extLst>
          </p:cNvPr>
          <p:cNvSpPr/>
          <p:nvPr/>
        </p:nvSpPr>
        <p:spPr>
          <a:xfrm>
            <a:off x="4232635" y="2864309"/>
            <a:ext cx="3143823" cy="135290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06582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45AFF-438B-D172-CA54-CAFD21BD6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6E9653-A587-F9B7-E257-27DBAA8BF5C5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t>AI Quality and Productivity: Non-Linear Gains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E133C2-CB09-BA8F-F9BE-5E39C3002C3B}"/>
              </a:ext>
            </a:extLst>
          </p:cNvPr>
          <p:cNvSpPr txBox="1"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333333"/>
                </a:solidFill>
                <a:latin typeface="Calibri"/>
              </a:defRPr>
            </a:pPr>
            <a:r>
              <a:t>AI Quality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76D12EA7-0B71-3744-E2E4-816DC54BFD20}"/>
              </a:ext>
            </a:extLst>
          </p:cNvPr>
          <p:cNvSpPr/>
          <p:nvPr/>
        </p:nvSpPr>
        <p:spPr>
          <a:xfrm>
            <a:off x="5633107" y="179954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D45D33-A1F8-FCC8-2AC5-5559759C9648}"/>
              </a:ext>
            </a:extLst>
          </p:cNvPr>
          <p:cNvSpPr txBox="1"/>
          <p:nvPr/>
        </p:nvSpPr>
        <p:spPr>
          <a:xfrm>
            <a:off x="5861213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17E7AF8-AC3D-9801-5354-2978C6BBA61C}"/>
              </a:ext>
            </a:extLst>
          </p:cNvPr>
          <p:cNvSpPr/>
          <p:nvPr/>
        </p:nvSpPr>
        <p:spPr>
          <a:xfrm>
            <a:off x="6095999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AE2E531-193F-2BD9-7100-F88ED49CC578}"/>
              </a:ext>
            </a:extLst>
          </p:cNvPr>
          <p:cNvSpPr txBox="1"/>
          <p:nvPr/>
        </p:nvSpPr>
        <p:spPr>
          <a:xfrm>
            <a:off x="6096000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BD42E086-A915-04E0-C439-A05DB8215407}"/>
              </a:ext>
            </a:extLst>
          </p:cNvPr>
          <p:cNvSpPr/>
          <p:nvPr/>
        </p:nvSpPr>
        <p:spPr>
          <a:xfrm>
            <a:off x="5633107" y="3448796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F7DDC11-4FD5-B7E3-08F2-D528B9DF08B0}"/>
              </a:ext>
            </a:extLst>
          </p:cNvPr>
          <p:cNvSpPr/>
          <p:nvPr/>
        </p:nvSpPr>
        <p:spPr>
          <a:xfrm>
            <a:off x="6124648" y="3267582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AAE7B1-A20C-5E95-9E7C-C162C94A3490}"/>
              </a:ext>
            </a:extLst>
          </p:cNvPr>
          <p:cNvSpPr txBox="1"/>
          <p:nvPr/>
        </p:nvSpPr>
        <p:spPr>
          <a:xfrm>
            <a:off x="6124648" y="3267582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5B957-EE7C-4B15-4658-5483211A2A8F}"/>
              </a:ext>
            </a:extLst>
          </p:cNvPr>
          <p:cNvSpPr txBox="1"/>
          <p:nvPr/>
        </p:nvSpPr>
        <p:spPr>
          <a:xfrm>
            <a:off x="5861213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BA3102C5-72D0-4255-F7A6-B2C73B910675}"/>
              </a:ext>
            </a:extLst>
          </p:cNvPr>
          <p:cNvSpPr/>
          <p:nvPr/>
        </p:nvSpPr>
        <p:spPr>
          <a:xfrm>
            <a:off x="5633107" y="5098048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F8088E-E7D8-8219-E5FB-FA630DDAE0E7}"/>
              </a:ext>
            </a:extLst>
          </p:cNvPr>
          <p:cNvSpPr txBox="1"/>
          <p:nvPr/>
        </p:nvSpPr>
        <p:spPr>
          <a:xfrm>
            <a:off x="4189521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1A4FC5F-06B1-9BE2-8BEF-C350CD0198D0}"/>
              </a:ext>
            </a:extLst>
          </p:cNvPr>
          <p:cNvSpPr txBox="1"/>
          <p:nvPr/>
        </p:nvSpPr>
        <p:spPr>
          <a:xfrm>
            <a:off x="4189521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8B37BC1B-FC33-B606-35C0-1D7258694D5E}"/>
              </a:ext>
            </a:extLst>
          </p:cNvPr>
          <p:cNvSpPr/>
          <p:nvPr/>
        </p:nvSpPr>
        <p:spPr>
          <a:xfrm>
            <a:off x="4424307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7D140D-3B35-CC74-1F80-2CA32C53A157}"/>
              </a:ext>
            </a:extLst>
          </p:cNvPr>
          <p:cNvSpPr txBox="1"/>
          <p:nvPr/>
        </p:nvSpPr>
        <p:spPr>
          <a:xfrm>
            <a:off x="4424308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F57D87-9CB0-DEED-D5F1-C94F519771E0}"/>
              </a:ext>
            </a:extLst>
          </p:cNvPr>
          <p:cNvSpPr txBox="1"/>
          <p:nvPr/>
        </p:nvSpPr>
        <p:spPr>
          <a:xfrm>
            <a:off x="4218170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EBE966A2-C2BF-57C1-320A-5E05774875B2}"/>
              </a:ext>
            </a:extLst>
          </p:cNvPr>
          <p:cNvSpPr/>
          <p:nvPr/>
        </p:nvSpPr>
        <p:spPr>
          <a:xfrm>
            <a:off x="4452956" y="3267582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67B8DD-8AA5-59B0-A85C-05C2556ED0F1}"/>
              </a:ext>
            </a:extLst>
          </p:cNvPr>
          <p:cNvSpPr txBox="1"/>
          <p:nvPr/>
        </p:nvSpPr>
        <p:spPr>
          <a:xfrm>
            <a:off x="4452957" y="3267582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AF553A87-B17A-7522-9F0C-49B4F9264AFE}"/>
              </a:ext>
            </a:extLst>
          </p:cNvPr>
          <p:cNvSpPr/>
          <p:nvPr/>
        </p:nvSpPr>
        <p:spPr>
          <a:xfrm>
            <a:off x="6124648" y="4916834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28A8C75-DDF8-AF70-F39D-5C8A2EB3F0F3}"/>
              </a:ext>
            </a:extLst>
          </p:cNvPr>
          <p:cNvSpPr txBox="1"/>
          <p:nvPr/>
        </p:nvSpPr>
        <p:spPr>
          <a:xfrm>
            <a:off x="6124648" y="4916834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73231D9-A008-F4C5-C5B1-6FBBE0C57A89}"/>
              </a:ext>
            </a:extLst>
          </p:cNvPr>
          <p:cNvSpPr txBox="1"/>
          <p:nvPr/>
        </p:nvSpPr>
        <p:spPr>
          <a:xfrm>
            <a:off x="5861213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E22A8DD2-68AD-9A3E-BF74-1FC75A2B95A7}"/>
              </a:ext>
            </a:extLst>
          </p:cNvPr>
          <p:cNvSpPr/>
          <p:nvPr/>
        </p:nvSpPr>
        <p:spPr>
          <a:xfrm>
            <a:off x="4424306" y="4923070"/>
            <a:ext cx="1027611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D219997-3A4A-AB3F-8B7A-1842F5471061}"/>
              </a:ext>
            </a:extLst>
          </p:cNvPr>
          <p:cNvSpPr txBox="1"/>
          <p:nvPr/>
        </p:nvSpPr>
        <p:spPr>
          <a:xfrm>
            <a:off x="4424307" y="492307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99615B7-28C0-54FB-B407-E5C54654B3E5}"/>
              </a:ext>
            </a:extLst>
          </p:cNvPr>
          <p:cNvSpPr/>
          <p:nvPr/>
        </p:nvSpPr>
        <p:spPr>
          <a:xfrm>
            <a:off x="1385740" y="1498862"/>
            <a:ext cx="716437" cy="4364610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rgbClr val="00B05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DAC0C32F-4E3A-8745-29EE-90B073F1BAF8}"/>
              </a:ext>
            </a:extLst>
          </p:cNvPr>
          <p:cNvSpPr txBox="1"/>
          <p:nvPr/>
        </p:nvSpPr>
        <p:spPr>
          <a:xfrm>
            <a:off x="4755861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79A6659A-C0A9-F866-DD7D-9DBDBC66B788}"/>
              </a:ext>
            </a:extLst>
          </p:cNvPr>
          <p:cNvSpPr txBox="1"/>
          <p:nvPr/>
        </p:nvSpPr>
        <p:spPr>
          <a:xfrm>
            <a:off x="6398904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1" name="Google Shape;197;p27">
            <a:extLst>
              <a:ext uri="{FF2B5EF4-FFF2-40B4-BE49-F238E27FC236}">
                <a16:creationId xmlns:a16="http://schemas.microsoft.com/office/drawing/2014/main" id="{DB82070D-BD50-FF54-A8B2-9BF24792DD60}"/>
              </a:ext>
            </a:extLst>
          </p:cNvPr>
          <p:cNvSpPr txBox="1"/>
          <p:nvPr/>
        </p:nvSpPr>
        <p:spPr>
          <a:xfrm>
            <a:off x="9389738" y="1414505"/>
            <a:ext cx="97343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 = 100</a:t>
            </a:r>
            <a:endParaRPr sz="1900" dirty="0"/>
          </a:p>
        </p:txBody>
      </p:sp>
      <p:sp>
        <p:nvSpPr>
          <p:cNvPr id="82" name="Google Shape;197;p27">
            <a:extLst>
              <a:ext uri="{FF2B5EF4-FFF2-40B4-BE49-F238E27FC236}">
                <a16:creationId xmlns:a16="http://schemas.microsoft.com/office/drawing/2014/main" id="{9D7FAC8A-D8CE-9F54-74FC-69D7741884AD}"/>
              </a:ext>
            </a:extLst>
          </p:cNvPr>
          <p:cNvSpPr txBox="1"/>
          <p:nvPr/>
        </p:nvSpPr>
        <p:spPr>
          <a:xfrm>
            <a:off x="9014533" y="2115955"/>
            <a:ext cx="199659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 = 25</a:t>
            </a:r>
            <a:endParaRPr sz="1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0B81766-C62B-658A-E22E-132BD34CAA28}"/>
              </a:ext>
            </a:extLst>
          </p:cNvPr>
          <p:cNvSpPr txBox="1"/>
          <p:nvPr/>
        </p:nvSpPr>
        <p:spPr>
          <a:xfrm>
            <a:off x="7987613" y="4961392"/>
            <a:ext cx="405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Production Cost = 125</a:t>
            </a:r>
          </a:p>
        </p:txBody>
      </p:sp>
      <p:sp>
        <p:nvSpPr>
          <p:cNvPr id="84" name="Google Shape;197;p27">
            <a:extLst>
              <a:ext uri="{FF2B5EF4-FFF2-40B4-BE49-F238E27FC236}">
                <a16:creationId xmlns:a16="http://schemas.microsoft.com/office/drawing/2014/main" id="{EC650FF6-7977-96E5-3A09-9719D90F78AC}"/>
              </a:ext>
            </a:extLst>
          </p:cNvPr>
          <p:cNvSpPr txBox="1"/>
          <p:nvPr/>
        </p:nvSpPr>
        <p:spPr>
          <a:xfrm>
            <a:off x="4755861" y="2835594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5" name="Google Shape;197;p27">
            <a:extLst>
              <a:ext uri="{FF2B5EF4-FFF2-40B4-BE49-F238E27FC236}">
                <a16:creationId xmlns:a16="http://schemas.microsoft.com/office/drawing/2014/main" id="{537D875B-490E-0192-8487-181F887DA9F8}"/>
              </a:ext>
            </a:extLst>
          </p:cNvPr>
          <p:cNvSpPr txBox="1"/>
          <p:nvPr/>
        </p:nvSpPr>
        <p:spPr>
          <a:xfrm>
            <a:off x="6255492" y="2854518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6" name="Google Shape;197;p27">
            <a:extLst>
              <a:ext uri="{FF2B5EF4-FFF2-40B4-BE49-F238E27FC236}">
                <a16:creationId xmlns:a16="http://schemas.microsoft.com/office/drawing/2014/main" id="{28D1921E-3D58-83BA-FE9D-8A96BC599336}"/>
              </a:ext>
            </a:extLst>
          </p:cNvPr>
          <p:cNvSpPr txBox="1"/>
          <p:nvPr/>
        </p:nvSpPr>
        <p:spPr>
          <a:xfrm>
            <a:off x="6255491" y="4493602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7" name="Google Shape;197;p27">
            <a:extLst>
              <a:ext uri="{FF2B5EF4-FFF2-40B4-BE49-F238E27FC236}">
                <a16:creationId xmlns:a16="http://schemas.microsoft.com/office/drawing/2014/main" id="{F3E7AE07-1951-3C92-8CEB-8F9271CD03F3}"/>
              </a:ext>
            </a:extLst>
          </p:cNvPr>
          <p:cNvSpPr txBox="1"/>
          <p:nvPr/>
        </p:nvSpPr>
        <p:spPr>
          <a:xfrm>
            <a:off x="4746065" y="4511947"/>
            <a:ext cx="4218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</a:t>
            </a:r>
            <a:endParaRPr sz="19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AFBC15E-0E4B-EE48-15F7-840AB9CBA7AD}"/>
              </a:ext>
            </a:extLst>
          </p:cNvPr>
          <p:cNvSpPr txBox="1"/>
          <p:nvPr/>
        </p:nvSpPr>
        <p:spPr>
          <a:xfrm>
            <a:off x="913776" y="1370844"/>
            <a:ext cx="339365" cy="36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204DE07-1F03-371C-A138-CA884CC94439}"/>
              </a:ext>
            </a:extLst>
          </p:cNvPr>
          <p:cNvSpPr txBox="1"/>
          <p:nvPr/>
        </p:nvSpPr>
        <p:spPr>
          <a:xfrm>
            <a:off x="734663" y="5601801"/>
            <a:ext cx="71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90" name="Left Arrow 89">
            <a:extLst>
              <a:ext uri="{FF2B5EF4-FFF2-40B4-BE49-F238E27FC236}">
                <a16:creationId xmlns:a16="http://schemas.microsoft.com/office/drawing/2014/main" id="{4863E0AC-D48A-3953-1BD0-72EC6A926AB1}"/>
              </a:ext>
            </a:extLst>
          </p:cNvPr>
          <p:cNvSpPr/>
          <p:nvPr/>
        </p:nvSpPr>
        <p:spPr>
          <a:xfrm>
            <a:off x="2271956" y="4324558"/>
            <a:ext cx="582595" cy="338088"/>
          </a:xfrm>
          <a:prstGeom prst="lef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9B631DE-9E73-A8E8-5A84-AFF09B67865E}"/>
              </a:ext>
            </a:extLst>
          </p:cNvPr>
          <p:cNvSpPr/>
          <p:nvPr/>
        </p:nvSpPr>
        <p:spPr>
          <a:xfrm>
            <a:off x="4232635" y="2864309"/>
            <a:ext cx="3143823" cy="135290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C2FC6E-48A6-8F57-C3D1-EED49432DB6A}"/>
              </a:ext>
            </a:extLst>
          </p:cNvPr>
          <p:cNvCxnSpPr/>
          <p:nvPr/>
        </p:nvCxnSpPr>
        <p:spPr>
          <a:xfrm>
            <a:off x="998617" y="5026872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DCF7B0-F629-0750-795C-11F0200C981C}"/>
              </a:ext>
            </a:extLst>
          </p:cNvPr>
          <p:cNvCxnSpPr/>
          <p:nvPr/>
        </p:nvCxnSpPr>
        <p:spPr>
          <a:xfrm>
            <a:off x="998617" y="3077094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43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3E2D9-B776-B973-CB02-DC565E35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47A2D5-0D02-D9BA-5BF7-C46879AA8B35}"/>
              </a:ext>
            </a:extLst>
          </p:cNvPr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t>AI Quality and Productivity: Non-Linear Gains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5EBCF-6CC4-BFA4-296E-A344BC9E4F1E}"/>
              </a:ext>
            </a:extLst>
          </p:cNvPr>
          <p:cNvSpPr txBox="1"/>
          <p:nvPr/>
        </p:nvSpPr>
        <p:spPr>
          <a:xfrm>
            <a:off x="731520" y="1005840"/>
            <a:ext cx="20116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333333"/>
                </a:solidFill>
                <a:latin typeface="Calibri"/>
              </a:defRPr>
            </a:pPr>
            <a:r>
              <a:t>AI Quality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2953B653-09A9-FEA8-10B2-FAAD01483A35}"/>
              </a:ext>
            </a:extLst>
          </p:cNvPr>
          <p:cNvSpPr/>
          <p:nvPr/>
        </p:nvSpPr>
        <p:spPr>
          <a:xfrm>
            <a:off x="5633107" y="1799544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1D58BC-74F5-5B33-226D-38D15B35B19E}"/>
              </a:ext>
            </a:extLst>
          </p:cNvPr>
          <p:cNvSpPr txBox="1"/>
          <p:nvPr/>
        </p:nvSpPr>
        <p:spPr>
          <a:xfrm>
            <a:off x="5861213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FEAD89F-9D27-81C9-B695-740C716C4095}"/>
              </a:ext>
            </a:extLst>
          </p:cNvPr>
          <p:cNvSpPr/>
          <p:nvPr/>
        </p:nvSpPr>
        <p:spPr>
          <a:xfrm>
            <a:off x="6095999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D2F383-3B17-31F8-44F6-7E4170790B5F}"/>
              </a:ext>
            </a:extLst>
          </p:cNvPr>
          <p:cNvSpPr txBox="1"/>
          <p:nvPr/>
        </p:nvSpPr>
        <p:spPr>
          <a:xfrm>
            <a:off x="6096000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D356FFC5-C56C-E9DB-C979-5BCD31F21A60}"/>
              </a:ext>
            </a:extLst>
          </p:cNvPr>
          <p:cNvSpPr/>
          <p:nvPr/>
        </p:nvSpPr>
        <p:spPr>
          <a:xfrm>
            <a:off x="5633107" y="3448796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CD7FCAC-C473-6038-7851-03D920030CA8}"/>
              </a:ext>
            </a:extLst>
          </p:cNvPr>
          <p:cNvSpPr/>
          <p:nvPr/>
        </p:nvSpPr>
        <p:spPr>
          <a:xfrm>
            <a:off x="6124648" y="3267582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B97F97-1218-218E-28D4-8510B4563BB5}"/>
              </a:ext>
            </a:extLst>
          </p:cNvPr>
          <p:cNvSpPr txBox="1"/>
          <p:nvPr/>
        </p:nvSpPr>
        <p:spPr>
          <a:xfrm>
            <a:off x="6124648" y="3267582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F6CA0F0-910D-D495-F3D5-B8726F37FE99}"/>
              </a:ext>
            </a:extLst>
          </p:cNvPr>
          <p:cNvSpPr txBox="1"/>
          <p:nvPr/>
        </p:nvSpPr>
        <p:spPr>
          <a:xfrm>
            <a:off x="5861213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57" name="Right Arrow 56">
            <a:extLst>
              <a:ext uri="{FF2B5EF4-FFF2-40B4-BE49-F238E27FC236}">
                <a16:creationId xmlns:a16="http://schemas.microsoft.com/office/drawing/2014/main" id="{58218EC6-ADAF-8D9E-D922-17F7CEDA2866}"/>
              </a:ext>
            </a:extLst>
          </p:cNvPr>
          <p:cNvSpPr/>
          <p:nvPr/>
        </p:nvSpPr>
        <p:spPr>
          <a:xfrm>
            <a:off x="5633107" y="5098048"/>
            <a:ext cx="310352" cy="186212"/>
          </a:xfrm>
          <a:prstGeom prst="rightArrow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4A6EFB4-6802-F1C6-04F3-7DFC9C5F8B21}"/>
              </a:ext>
            </a:extLst>
          </p:cNvPr>
          <p:cNvSpPr txBox="1"/>
          <p:nvPr/>
        </p:nvSpPr>
        <p:spPr>
          <a:xfrm>
            <a:off x="4189521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AI-automated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3BBFEE-684B-25FD-048A-8D6BAAF9674D}"/>
              </a:ext>
            </a:extLst>
          </p:cNvPr>
          <p:cNvSpPr txBox="1"/>
          <p:nvPr/>
        </p:nvSpPr>
        <p:spPr>
          <a:xfrm>
            <a:off x="4189521" y="2212690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C5D69F85-E2AF-8818-4672-46A8B4C95984}"/>
              </a:ext>
            </a:extLst>
          </p:cNvPr>
          <p:cNvSpPr/>
          <p:nvPr/>
        </p:nvSpPr>
        <p:spPr>
          <a:xfrm>
            <a:off x="4424307" y="1618330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92346CA-D066-B834-CEB7-720F66A29B8B}"/>
              </a:ext>
            </a:extLst>
          </p:cNvPr>
          <p:cNvSpPr txBox="1"/>
          <p:nvPr/>
        </p:nvSpPr>
        <p:spPr>
          <a:xfrm>
            <a:off x="4424308" y="161833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C2E042-47DF-A752-9B27-0CEA9BD0B264}"/>
              </a:ext>
            </a:extLst>
          </p:cNvPr>
          <p:cNvSpPr txBox="1"/>
          <p:nvPr/>
        </p:nvSpPr>
        <p:spPr>
          <a:xfrm>
            <a:off x="4218170" y="3861942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Manual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3471701-34B0-3720-FC59-D35651C95DAF}"/>
              </a:ext>
            </a:extLst>
          </p:cNvPr>
          <p:cNvSpPr/>
          <p:nvPr/>
        </p:nvSpPr>
        <p:spPr>
          <a:xfrm>
            <a:off x="4452956" y="3267582"/>
            <a:ext cx="1027611" cy="54864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D64852-AAD1-1A4B-CEDD-B3E91D63923D}"/>
              </a:ext>
            </a:extLst>
          </p:cNvPr>
          <p:cNvSpPr txBox="1"/>
          <p:nvPr/>
        </p:nvSpPr>
        <p:spPr>
          <a:xfrm>
            <a:off x="4452957" y="3267582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F2EDAF48-1D9C-E421-C75E-08C989939317}"/>
              </a:ext>
            </a:extLst>
          </p:cNvPr>
          <p:cNvSpPr/>
          <p:nvPr/>
        </p:nvSpPr>
        <p:spPr>
          <a:xfrm>
            <a:off x="6124648" y="4916834"/>
            <a:ext cx="1027611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18A7240-9A94-8BEF-C5EF-2BF0706B2F89}"/>
              </a:ext>
            </a:extLst>
          </p:cNvPr>
          <p:cNvSpPr txBox="1"/>
          <p:nvPr/>
        </p:nvSpPr>
        <p:spPr>
          <a:xfrm>
            <a:off x="6124648" y="4916834"/>
            <a:ext cx="1027611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2</a:t>
            </a:r>
            <a:endParaRPr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A71E99-F6BC-9B2C-4655-416A7FA97F07}"/>
              </a:ext>
            </a:extLst>
          </p:cNvPr>
          <p:cNvSpPr txBox="1"/>
          <p:nvPr/>
        </p:nvSpPr>
        <p:spPr>
          <a:xfrm>
            <a:off x="5861213" y="5511194"/>
            <a:ext cx="15544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757575"/>
                </a:solidFill>
                <a:latin typeface="Calibri"/>
              </a:defRPr>
            </a:pPr>
            <a:r>
              <a:rPr lang="en-US" dirty="0"/>
              <a:t>AI-augmented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B07B1BEC-10B7-351F-990F-9E5F13D58DED}"/>
              </a:ext>
            </a:extLst>
          </p:cNvPr>
          <p:cNvSpPr/>
          <p:nvPr/>
        </p:nvSpPr>
        <p:spPr>
          <a:xfrm>
            <a:off x="4424306" y="4923070"/>
            <a:ext cx="1027611" cy="54864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7A58F30-277A-0E1C-1101-67B09CD9C71C}"/>
              </a:ext>
            </a:extLst>
          </p:cNvPr>
          <p:cNvSpPr txBox="1"/>
          <p:nvPr/>
        </p:nvSpPr>
        <p:spPr>
          <a:xfrm>
            <a:off x="4424307" y="4923070"/>
            <a:ext cx="102761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rPr lang="en-US" dirty="0"/>
              <a:t>Task 1</a:t>
            </a:r>
            <a:endParaRPr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ECD532E-7D27-7013-3A0A-4AD5AC7D85F3}"/>
              </a:ext>
            </a:extLst>
          </p:cNvPr>
          <p:cNvSpPr/>
          <p:nvPr/>
        </p:nvSpPr>
        <p:spPr>
          <a:xfrm>
            <a:off x="1385740" y="1498862"/>
            <a:ext cx="716437" cy="4364610"/>
          </a:xfrm>
          <a:prstGeom prst="rect">
            <a:avLst/>
          </a:prstGeom>
          <a:gradFill>
            <a:gsLst>
              <a:gs pos="100000">
                <a:srgbClr val="FF0000"/>
              </a:gs>
              <a:gs pos="0">
                <a:srgbClr val="00B050"/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Google Shape;197;p27">
            <a:extLst>
              <a:ext uri="{FF2B5EF4-FFF2-40B4-BE49-F238E27FC236}">
                <a16:creationId xmlns:a16="http://schemas.microsoft.com/office/drawing/2014/main" id="{4BB29C4A-FF88-B6A2-C04C-E1DEEC0A90F7}"/>
              </a:ext>
            </a:extLst>
          </p:cNvPr>
          <p:cNvSpPr txBox="1"/>
          <p:nvPr/>
        </p:nvSpPr>
        <p:spPr>
          <a:xfrm>
            <a:off x="4755861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0" name="Google Shape;197;p27">
            <a:extLst>
              <a:ext uri="{FF2B5EF4-FFF2-40B4-BE49-F238E27FC236}">
                <a16:creationId xmlns:a16="http://schemas.microsoft.com/office/drawing/2014/main" id="{B307B3A9-6C37-823B-7523-5810C4146B8E}"/>
              </a:ext>
            </a:extLst>
          </p:cNvPr>
          <p:cNvSpPr txBox="1"/>
          <p:nvPr/>
        </p:nvSpPr>
        <p:spPr>
          <a:xfrm>
            <a:off x="6398904" y="1216568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1" name="Google Shape;197;p27">
            <a:extLst>
              <a:ext uri="{FF2B5EF4-FFF2-40B4-BE49-F238E27FC236}">
                <a16:creationId xmlns:a16="http://schemas.microsoft.com/office/drawing/2014/main" id="{D2A0CB6A-B24C-120B-48DB-61680A8ABDB2}"/>
              </a:ext>
            </a:extLst>
          </p:cNvPr>
          <p:cNvSpPr txBox="1"/>
          <p:nvPr/>
        </p:nvSpPr>
        <p:spPr>
          <a:xfrm>
            <a:off x="9389738" y="1414505"/>
            <a:ext cx="973437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 = 100</a:t>
            </a:r>
            <a:endParaRPr sz="1900" dirty="0"/>
          </a:p>
        </p:txBody>
      </p:sp>
      <p:sp>
        <p:nvSpPr>
          <p:cNvPr id="82" name="Google Shape;197;p27">
            <a:extLst>
              <a:ext uri="{FF2B5EF4-FFF2-40B4-BE49-F238E27FC236}">
                <a16:creationId xmlns:a16="http://schemas.microsoft.com/office/drawing/2014/main" id="{B2255257-8677-1C76-3909-4E12BD81F1E7}"/>
              </a:ext>
            </a:extLst>
          </p:cNvPr>
          <p:cNvSpPr txBox="1"/>
          <p:nvPr/>
        </p:nvSpPr>
        <p:spPr>
          <a:xfrm>
            <a:off x="9014533" y="2115955"/>
            <a:ext cx="1996595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 = 10</a:t>
            </a:r>
            <a:endParaRPr sz="19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84FF4A3-610B-EC43-478B-29110F802830}"/>
              </a:ext>
            </a:extLst>
          </p:cNvPr>
          <p:cNvSpPr txBox="1"/>
          <p:nvPr/>
        </p:nvSpPr>
        <p:spPr>
          <a:xfrm>
            <a:off x="7987613" y="4961392"/>
            <a:ext cx="4050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Production Cost = 10</a:t>
            </a:r>
          </a:p>
        </p:txBody>
      </p:sp>
      <p:sp>
        <p:nvSpPr>
          <p:cNvPr id="84" name="Google Shape;197;p27">
            <a:extLst>
              <a:ext uri="{FF2B5EF4-FFF2-40B4-BE49-F238E27FC236}">
                <a16:creationId xmlns:a16="http://schemas.microsoft.com/office/drawing/2014/main" id="{2D9C38E5-288D-A172-7E87-1845049675A0}"/>
              </a:ext>
            </a:extLst>
          </p:cNvPr>
          <p:cNvSpPr txBox="1"/>
          <p:nvPr/>
        </p:nvSpPr>
        <p:spPr>
          <a:xfrm>
            <a:off x="4755861" y="2835594"/>
            <a:ext cx="421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🧑‍💻</a:t>
            </a:r>
            <a:endParaRPr sz="1900" dirty="0"/>
          </a:p>
        </p:txBody>
      </p:sp>
      <p:sp>
        <p:nvSpPr>
          <p:cNvPr id="85" name="Google Shape;197;p27">
            <a:extLst>
              <a:ext uri="{FF2B5EF4-FFF2-40B4-BE49-F238E27FC236}">
                <a16:creationId xmlns:a16="http://schemas.microsoft.com/office/drawing/2014/main" id="{2C3F65FD-F682-B475-9C80-252703E13EF7}"/>
              </a:ext>
            </a:extLst>
          </p:cNvPr>
          <p:cNvSpPr txBox="1"/>
          <p:nvPr/>
        </p:nvSpPr>
        <p:spPr>
          <a:xfrm>
            <a:off x="6255492" y="2854518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6" name="Google Shape;197;p27">
            <a:extLst>
              <a:ext uri="{FF2B5EF4-FFF2-40B4-BE49-F238E27FC236}">
                <a16:creationId xmlns:a16="http://schemas.microsoft.com/office/drawing/2014/main" id="{D0666117-CEA7-5451-7B71-58D0ED72B2A2}"/>
              </a:ext>
            </a:extLst>
          </p:cNvPr>
          <p:cNvSpPr txBox="1"/>
          <p:nvPr/>
        </p:nvSpPr>
        <p:spPr>
          <a:xfrm>
            <a:off x="6255491" y="4493602"/>
            <a:ext cx="1329161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 + 🧑‍💻</a:t>
            </a:r>
            <a:endParaRPr sz="1900" dirty="0"/>
          </a:p>
        </p:txBody>
      </p:sp>
      <p:sp>
        <p:nvSpPr>
          <p:cNvPr id="87" name="Google Shape;197;p27">
            <a:extLst>
              <a:ext uri="{FF2B5EF4-FFF2-40B4-BE49-F238E27FC236}">
                <a16:creationId xmlns:a16="http://schemas.microsoft.com/office/drawing/2014/main" id="{62D2ABC3-A670-9537-0438-9F1976C4A251}"/>
              </a:ext>
            </a:extLst>
          </p:cNvPr>
          <p:cNvSpPr txBox="1"/>
          <p:nvPr/>
        </p:nvSpPr>
        <p:spPr>
          <a:xfrm>
            <a:off x="4746065" y="4511947"/>
            <a:ext cx="4218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" sz="1600" dirty="0">
                <a:solidFill>
                  <a:schemeClr val="dk1"/>
                </a:solidFill>
              </a:rPr>
              <a:t>🤖</a:t>
            </a:r>
            <a:endParaRPr sz="19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3906A7F-666A-6ED7-0F7E-F793C6E92E44}"/>
              </a:ext>
            </a:extLst>
          </p:cNvPr>
          <p:cNvSpPr txBox="1"/>
          <p:nvPr/>
        </p:nvSpPr>
        <p:spPr>
          <a:xfrm>
            <a:off x="913776" y="1370844"/>
            <a:ext cx="339365" cy="36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9DFAA61-25CA-BE57-8C4C-1C4826210575}"/>
              </a:ext>
            </a:extLst>
          </p:cNvPr>
          <p:cNvSpPr txBox="1"/>
          <p:nvPr/>
        </p:nvSpPr>
        <p:spPr>
          <a:xfrm>
            <a:off x="734663" y="5601801"/>
            <a:ext cx="716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100</a:t>
            </a:r>
          </a:p>
        </p:txBody>
      </p:sp>
      <p:sp>
        <p:nvSpPr>
          <p:cNvPr id="90" name="Left Arrow 89">
            <a:extLst>
              <a:ext uri="{FF2B5EF4-FFF2-40B4-BE49-F238E27FC236}">
                <a16:creationId xmlns:a16="http://schemas.microsoft.com/office/drawing/2014/main" id="{F7376701-DDF1-DCE3-46A9-75503A2F0F07}"/>
              </a:ext>
            </a:extLst>
          </p:cNvPr>
          <p:cNvSpPr/>
          <p:nvPr/>
        </p:nvSpPr>
        <p:spPr>
          <a:xfrm>
            <a:off x="2228556" y="5342150"/>
            <a:ext cx="582595" cy="338088"/>
          </a:xfrm>
          <a:prstGeom prst="leftArrow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6FD08D9-48F8-8031-DA6A-0DD32351E377}"/>
              </a:ext>
            </a:extLst>
          </p:cNvPr>
          <p:cNvSpPr/>
          <p:nvPr/>
        </p:nvSpPr>
        <p:spPr>
          <a:xfrm>
            <a:off x="4225252" y="4498763"/>
            <a:ext cx="3143823" cy="135290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1859F9-DE5A-7937-2E83-0C328A35AED4}"/>
              </a:ext>
            </a:extLst>
          </p:cNvPr>
          <p:cNvCxnSpPr/>
          <p:nvPr/>
        </p:nvCxnSpPr>
        <p:spPr>
          <a:xfrm>
            <a:off x="998617" y="5026872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2D2F45-FD8E-0F97-B55A-C99C798C1B5F}"/>
              </a:ext>
            </a:extLst>
          </p:cNvPr>
          <p:cNvCxnSpPr/>
          <p:nvPr/>
        </p:nvCxnSpPr>
        <p:spPr>
          <a:xfrm>
            <a:off x="998617" y="3077094"/>
            <a:ext cx="15365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2022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1A237E"/>
                </a:solidFill>
                <a:latin typeface="Georgia"/>
              </a:defRPr>
            </a:pPr>
            <a:r>
              <a:rPr dirty="0"/>
              <a:t>What Should You Do?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41271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801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09688"/>
                </a:solidFill>
                <a:latin typeface="Calibri"/>
              </a:defRPr>
            </a:pPr>
            <a:r>
              <a:rPr dirty="0"/>
              <a:t>Think at the workflow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4592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dirty="0"/>
              <a:t>Stop evaluating AI task-by-task. Consider </a:t>
            </a:r>
            <a:r>
              <a:rPr lang="en-US" dirty="0"/>
              <a:t>AI in </a:t>
            </a:r>
            <a:r>
              <a:rPr dirty="0"/>
              <a:t>chains.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556687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37744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4CAF50"/>
                </a:solidFill>
                <a:latin typeface="Calibri"/>
              </a:defRPr>
            </a:pPr>
            <a:r>
              <a:rPr lang="en-US" dirty="0"/>
              <a:t>Reorganize workflows around AI’s capabilities when possible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554480" y="274320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dirty="0"/>
              <a:t>Where are your AI-friendly </a:t>
            </a:r>
            <a:r>
              <a:rPr lang="en-US" dirty="0"/>
              <a:t>tasks</a:t>
            </a:r>
            <a:r>
              <a:rPr dirty="0"/>
              <a:t>? </a:t>
            </a:r>
            <a:r>
              <a:rPr lang="en-US" dirty="0"/>
              <a:t>Try clustering them to unlock gains from chaining.</a:t>
            </a:r>
            <a:endParaRPr dirty="0"/>
          </a:p>
        </p:txBody>
      </p:sp>
      <p:sp>
        <p:nvSpPr>
          <p:cNvPr id="11" name="Oval 10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48891"/>
            <a:ext cx="5486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9800"/>
                </a:solidFill>
                <a:latin typeface="Calibri"/>
              </a:defRPr>
            </a:pPr>
            <a:r>
              <a:rPr lang="en-US" dirty="0">
                <a:solidFill>
                  <a:schemeClr val="accent6"/>
                </a:solidFill>
              </a:rPr>
              <a:t>AI ROI takes time to show up</a:t>
            </a:r>
            <a:endParaRPr dirty="0">
              <a:solidFill>
                <a:schemeClr val="accent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9601200" cy="457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1400" b="0" i="0">
                <a:solidFill>
                  <a:srgbClr val="757575"/>
                </a:solidFill>
                <a:latin typeface="Calibri"/>
              </a:defRPr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The payoff is non-linear. It arrives when you reach a reorganization tipping point.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70D2E-97DB-6119-6EA6-D4A83A0E264B}"/>
              </a:ext>
            </a:extLst>
          </p:cNvPr>
          <p:cNvSpPr txBox="1"/>
          <p:nvPr/>
        </p:nvSpPr>
        <p:spPr>
          <a:xfrm>
            <a:off x="1371600" y="1275902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rPr dirty="0"/>
              <a:t>Thank You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70EE7-D0A1-1825-FDB8-2EFC0EA74D06}"/>
              </a:ext>
            </a:extLst>
          </p:cNvPr>
          <p:cNvSpPr txBox="1"/>
          <p:nvPr/>
        </p:nvSpPr>
        <p:spPr>
          <a:xfrm>
            <a:off x="1371600" y="4942437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 i="0">
                <a:solidFill>
                  <a:srgbClr val="CADCFC"/>
                </a:solidFill>
                <a:latin typeface="Calibri"/>
              </a:defRPr>
            </a:pPr>
            <a:r>
              <a:rPr sz="2800" dirty="0" err="1"/>
              <a:t>peymansh@mit.edu</a:t>
            </a:r>
            <a:endParaRPr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F49476-FC8F-6347-1720-7529495A1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575" y="2402964"/>
            <a:ext cx="2240369" cy="2240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1390</Words>
  <Application>Microsoft Macintosh PowerPoint</Application>
  <PresentationFormat>Widescreen</PresentationFormat>
  <Paragraphs>558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Peyman Shahidi</cp:lastModifiedBy>
  <cp:revision>52</cp:revision>
  <dcterms:created xsi:type="dcterms:W3CDTF">2013-01-27T09:14:16Z</dcterms:created>
  <dcterms:modified xsi:type="dcterms:W3CDTF">2026-04-06T22:24:39Z</dcterms:modified>
  <cp:category/>
</cp:coreProperties>
</file>